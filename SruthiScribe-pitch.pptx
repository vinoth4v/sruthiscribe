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34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C1915"/>
                </a:solidFill>
                <a:latin typeface="Georgia"/>
              </a:rPr>
              <a:t>SruthiScribe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63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3401F"/>
                </a:solidFill>
                <a:latin typeface="Georgia"/>
              </a:rPr>
              <a:t>Sing it. Read it back as svaras.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86200"/>
            <a:ext cx="9326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53F36"/>
                </a:solidFill>
                <a:latin typeface="Helvetica Neue"/>
              </a:rPr>
              <a:t>A browser-based Carnatic transcription engine and an open, machine-readable library of the repertoire.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04688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8A6D2F"/>
                </a:solidFill>
                <a:latin typeface="Menlo"/>
              </a:rPr>
              <a:t>Vinoth Kannan  ·  vinoth.kannan.eu(at)gmail.com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756D5E"/>
                </a:solidFill>
                <a:latin typeface="Menlo"/>
              </a:rPr>
              <a:t>Beta  ·  measured accuracy, published limits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3401F"/>
                </a:solidFill>
                <a:latin typeface="Menl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915"/>
                </a:solidFill>
                <a:latin typeface="Georgia"/>
              </a:rPr>
              <a:t>Carnatic music is taught by ear, and stays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A student cannot see what they just sang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Correction happens in the lesson, from the teacher's ear. Between lessons there is no feedback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5234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Notation exists, but not where you need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26664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Printed books, PDFs and scanned archives — none of it queryable, none of it aligned to what you are singing.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216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The reference corpus is scattered and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9592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Ragam definitions on one site, lyrics on another, notation in a 1904 book. Little of it is machine-readable.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49377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C1915"/>
                </a:solidFill>
                <a:latin typeface="Helvetica Neue"/>
              </a:rPr>
              <a:t>What a learner actually has today</a:t>
            </a:r>
          </a:p>
          <a:p>
            <a:pPr algn="l">
              <a:lnSpc>
                <a:spcPct val="135000"/>
              </a:lnSpc>
            </a:pPr>
            <a:r>
              <a:rPr sz="8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3F36"/>
                </a:solidFill>
                <a:latin typeface="Helvetica Neue"/>
              </a:rPr>
              <a:t>A tanpura app for the drone.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3F36"/>
                </a:solidFill>
                <a:latin typeface="Helvetica Neue"/>
              </a:rPr>
              <a:t>A tuner that says whether one note is sharp.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3F36"/>
                </a:solidFill>
                <a:latin typeface="Helvetica Neue"/>
              </a:rPr>
              <a:t>A PDF of notation they cannot search.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453F36"/>
                </a:solidFill>
                <a:latin typeface="Helvetica Neue"/>
              </a:rPr>
              <a:t>A recording of their own practice they will never listen back to.</a:t>
            </a:r>
          </a:p>
          <a:p>
            <a:pPr algn="l">
              <a:lnSpc>
                <a:spcPct val="135000"/>
              </a:lnSpc>
            </a:pPr>
            <a:r>
              <a:rPr sz="8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B3401F"/>
                </a:solidFill>
                <a:latin typeface="Helvetica Neue"/>
              </a:rPr>
              <a:t>Nothing that turns the singing into notation.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3401F"/>
                </a:solidFill>
                <a:latin typeface="Menlo"/>
              </a:rPr>
              <a:t>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915"/>
                </a:solidFill>
                <a:latin typeface="Georgia"/>
              </a:rPr>
              <a:t>Two halves of one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B3401F"/>
                </a:solidFill>
                <a:latin typeface="Georgia"/>
              </a:rPr>
              <a:t>1 · Hear yourself as notation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453F36"/>
                </a:solidFill>
                <a:latin typeface="Helvetica Neue"/>
              </a:rPr>
              <a:t>Sing a phrase; get back svaras with sthayi, gamaka and avartana bars, laid out the way the tradition prints it.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453F36"/>
                </a:solidFill>
                <a:latin typeface="Helvetica Neue"/>
              </a:rPr>
              <a:t>Practise between lessons with something that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0292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011680"/>
            <a:ext cx="4389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E6B5C"/>
                </a:solidFill>
                <a:latin typeface="Georgia"/>
              </a:rPr>
              <a:t>2 · One library, openly licensed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453F36"/>
                </a:solidFill>
                <a:latin typeface="Helvetica Neue"/>
              </a:rPr>
              <a:t>Compositions, ragams, talams and notation in one place, searchable, with the source and licence of every row recorded.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453F36"/>
                </a:solidFill>
                <a:latin typeface="Helvetica Neue"/>
              </a:rPr>
              <a:t>So a reading can be matched against the repertoire.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The two halves feed each other: the library gives the decoder its ragam and tala; the decoder gives the library new readings.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3401F"/>
                </a:solidFill>
                <a:latin typeface="Menlo"/>
              </a:rPr>
              <a:t>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915"/>
                </a:solidFill>
                <a:latin typeface="Georgia"/>
              </a:rPr>
              <a:t>What it does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Record or upload, and read it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3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Microphone or file, in the browser. Svaras with octave, duration, gamaka class and cents deviation.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43783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Tala-aware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18103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All seven suladi sapta talas × five jatis, nadai 1x–8x, avartana and anga bar lines, sahitya under the svaras.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13047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Fix what it got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87367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Edit any svara, mark the eduppu, regroup speeds — the decode is a starting point, not a verdict.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8231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56631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Print-quality PDF laid out as the tradition prints it, JSON, or contribute the reading to the library.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A library of 598 compositions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3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42 with complete notation, searchable by ragam, tala, composer, deity and how complete the notation 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43783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939 ragams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18103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All 72 melakartas and their janyas, with arohana/avarohana; 114 wired into the decoder as constraints.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13047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Provenance on every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087367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Source, licence and page, so a notation can be checked against the book it came 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8231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An AI teacher, optional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056631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Reads the transcription and answers questions about it. Never part of producing the transcription.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3401F"/>
                </a:solidFill>
                <a:latin typeface="Menlo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915"/>
                </a:solidFill>
                <a:latin typeface="Georgia"/>
              </a:rPr>
              <a:t>A signal-processing pipeline, entirely in the 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57474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29968"/>
            <a:ext cx="157474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6B5C"/>
                </a:solidFill>
                <a:latin typeface="Helvetica Neue"/>
              </a:rPr>
              <a:t>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32304"/>
            <a:ext cx="157474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56D5E"/>
                </a:solidFill>
                <a:latin typeface="Menlo"/>
              </a:rPr>
              <a:t>mic or file
16 kHz mono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7709" y="233172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E4DCC9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3741" y="1828800"/>
            <a:ext cx="157474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3741" y="2029968"/>
            <a:ext cx="157474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6B5C"/>
                </a:solidFill>
                <a:latin typeface="Helvetica Neue"/>
              </a:rPr>
              <a:t>YIN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3741" y="2432304"/>
            <a:ext cx="157474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56D5E"/>
                </a:solidFill>
                <a:latin typeface="Menlo"/>
              </a:rPr>
              <a:t>pitch track
50 ms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8490" y="233172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E4DCC9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4522" y="1828800"/>
            <a:ext cx="157474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4522" y="2029968"/>
            <a:ext cx="157474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6B5C"/>
                </a:solidFill>
                <a:latin typeface="Helvetica Neue"/>
              </a:rPr>
              <a:t>Voicing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522" y="2432304"/>
            <a:ext cx="157474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56D5E"/>
                </a:solidFill>
                <a:latin typeface="Menlo"/>
              </a:rPr>
              <a:t>energy + confidence
90 ms min.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9271" y="233172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E4DCC9"/>
                </a:solidFill>
                <a:latin typeface="Helvetica Neue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5303" y="1828800"/>
            <a:ext cx="157474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5303" y="2029968"/>
            <a:ext cx="157474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3401F"/>
                </a:solidFill>
                <a:latin typeface="Helvetica Neue"/>
              </a:rPr>
              <a:t>Tonic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5303" y="2432304"/>
            <a:ext cx="157474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56D5E"/>
                </a:solidFill>
                <a:latin typeface="Menlo"/>
              </a:rPr>
              <a:t>pitch histogram
auto-sruthi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052" y="233172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E4DCC9"/>
                </a:solidFill>
                <a:latin typeface="Helvetica Neue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6084" y="1828800"/>
            <a:ext cx="157474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6084" y="2029968"/>
            <a:ext cx="157474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3401F"/>
                </a:solidFill>
                <a:latin typeface="Helvetica Neue"/>
              </a:rPr>
              <a:t>Viterbi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6084" y="2432304"/>
            <a:ext cx="157474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56D5E"/>
                </a:solidFill>
                <a:latin typeface="Menlo"/>
              </a:rPr>
              <a:t>ragam-constrained
svara decode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833" y="233172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E4DCC9"/>
                </a:solidFill>
                <a:latin typeface="Helvetica Neue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76865" y="1828800"/>
            <a:ext cx="157474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76865" y="2029968"/>
            <a:ext cx="157474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3401F"/>
                </a:solidFill>
                <a:latin typeface="Helvetica Neue"/>
              </a:rPr>
              <a:t>Notation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6865" y="2432304"/>
            <a:ext cx="157474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56D5E"/>
                </a:solidFill>
                <a:latin typeface="Menlo"/>
              </a:rPr>
              <a:t>tala grid
PDF /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74903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No server, no model, no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233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The engine is 44 kB of dependency-free JavaScript. Transcription works offline; nothing is uploaded.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7199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The ragam is the decoder's state 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4631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Viterbi over that ragam's svarasthanas, penalising switches — so the decode cannot invent a note outside the ragam.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4903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Postgres + REST for the library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0233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Supabase; the page talks to it directly. Notation stored as JSON with the tala and akshara grid.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7199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The harness scores the shipping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84631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tools/eval.js extracts the engine from the page itself and scores it against public datasets — the two cannot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3401F"/>
                </a:solidFill>
                <a:latin typeface="Menlo"/>
              </a:rPr>
              <a:t>MEASURED, NOT CLAIMED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915"/>
                </a:solidFill>
                <a:latin typeface="Georgia"/>
              </a:rPr>
              <a:t>Accuracy on studio recordings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0253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B3401F"/>
                </a:solidFill>
                <a:latin typeface="Georgia"/>
              </a:rPr>
              <a:t>79.3%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243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56D5E"/>
                </a:solidFill>
                <a:latin typeface="Helvetica Neue"/>
              </a:rPr>
              <a:t>svara accuracy
(label + octave)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7830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0253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E6B5C"/>
                </a:solidFill>
                <a:latin typeface="Georgia"/>
              </a:rPr>
              <a:t>82.4%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243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56D5E"/>
                </a:solidFill>
                <a:latin typeface="Helvetica Neue"/>
              </a:rPr>
              <a:t>raw pitch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0253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E6B5C"/>
                </a:solidFill>
                <a:latin typeface="Georgia"/>
              </a:rPr>
              <a:t>2.7%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243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56D5E"/>
                </a:solidFill>
                <a:latin typeface="Helvetica Neue"/>
              </a:rPr>
              <a:t>octave error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78308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002536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E6B5C"/>
                </a:solidFill>
                <a:latin typeface="Georgia"/>
              </a:rPr>
              <a:t>7.6¢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62432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56D5E"/>
                </a:solidFill>
                <a:latin typeface="Helvetica Neue"/>
              </a:rPr>
              <a:t>tonic (sruthi)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Scored on 33 items of Sanidha (Georgia Tech), studio multitrack, against the dataset's own pitch annotations.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10515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06240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1915"/>
                </a:solidFill>
                <a:latin typeface="Helvetica Neue"/>
              </a:rPr>
              <a:t>How the measurement is kept honest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The harness runs the engine that ships, not a copy. Records whose published annotation disagrees with their own audio are detected and excluded rather than averaged in — three of Sanidha's are annotated an octave high. Every engine change is confirmed on a held-out split before it lands.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3401F"/>
                </a:solidFill>
                <a:latin typeface="Menlo"/>
              </a:rPr>
              <a:t>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915"/>
                </a:solidFill>
                <a:latin typeface="Georgia"/>
              </a:rPr>
              <a:t>Rescuing a 1904 book by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3F36"/>
                </a:solidFill>
                <a:latin typeface="Helvetica Neue"/>
              </a:rPr>
              <a:t>Subbarama Dikshitar's Sangita Sampradaya Pradarsini (1904) is the only public-domain source of complete Carnatic notation — and it has never been machine-readable.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6265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E6B5C"/>
                </a:solidFill>
                <a:latin typeface="Georgia"/>
              </a:rPr>
              <a:t>598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84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56D5E"/>
                </a:solidFill>
                <a:latin typeface="Helvetica Neue"/>
              </a:rPr>
              <a:t>compositions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7432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96265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B3401F"/>
                </a:solidFill>
                <a:latin typeface="Georgia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584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56D5E"/>
                </a:solidFill>
                <a:latin typeface="Helvetica Neue"/>
              </a:rPr>
              <a:t>with complete notation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962656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E6B5C"/>
                </a:solidFill>
                <a:latin typeface="Georgia"/>
              </a:rPr>
              <a:t>939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84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56D5E"/>
                </a:solidFill>
                <a:latin typeface="Helvetica Neue"/>
              </a:rPr>
              <a:t>ragams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74320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962656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B3401F"/>
                </a:solidFill>
                <a:latin typeface="Georgia"/>
              </a:rPr>
              <a:t>4,695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58444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756D5E"/>
                </a:solidFill>
                <a:latin typeface="Helvetica Neue"/>
              </a:rPr>
              <a:t>svaras extracted from SSP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453F36"/>
                </a:solidFill>
                <a:latin typeface="Helvetica Neue"/>
              </a:rPr>
              <a:t>The extractor reads the book's own notation scheme from its page iii — capitals are two aksharas, underlines halve, dots mark sthayi — and verifies every section against the tala the book prints for it. 26 kirtanas parse clean end to end; 12 of them were confirmed independently against a separate catalogue, agreeing on both title and ragam. Nothing that fails verification is loaded.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3401F"/>
                </a:solidFill>
                <a:latin typeface="Menlo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915"/>
                </a:solidFill>
                <a:latin typeface="Georgia"/>
              </a:rPr>
              <a:t>What it cannot do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Ragam identification is weak — 12% top-1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3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A pitch histogram cannot separate ragams that share a svara set and differ by phrase. The user still has to name the ragam.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43783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Gamaka classification is coarse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18103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Five machine labels, not the dasavidha taxonomy. It says 'kampita', not which kampita.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13047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Voicing false alarm is 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87367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It still calls notes in the gaps. The weakest number in the engine, and known.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8231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One voice, no ensemble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56631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Trained on and scored against solo vocal. Accompaniment in the room degrades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The library is mostly 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3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433 of 598 rows have no notation. Complete notation is not openly licensed at scale; that is a licensing wall, not an engineering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43783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The SSP extractor verifies 44% of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18103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Errors are per-glyph now — underline geometry, tight spacing. Each further point is slow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13047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No Tyagaraja notation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087367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SSP covers Dikshitar. The Walajapet manuscripts are scans with no text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8231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1915"/>
                </a:solidFill>
                <a:latin typeface="Helvetica Neue"/>
              </a:rPr>
              <a:t>Not a substitute for a teacher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056631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56D5E"/>
                </a:solidFill>
                <a:latin typeface="Helvetica Neue"/>
              </a:rPr>
              <a:t>It measures pitch. It does not hear bhava, and it should not be sold as if it did.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B3401F"/>
                </a:solidFill>
                <a:latin typeface="Menlo"/>
              </a:rPr>
              <a:t>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C1915"/>
                </a:solidFill>
                <a:latin typeface="Georgia"/>
              </a:rPr>
              <a:t>What is genuinely new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4480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756D5E"/>
                </a:solidFill>
                <a:latin typeface="Georgia"/>
              </a:rPr>
              <a:t>Already exists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·  Tuners that name the svara you are holding — Carnatic Tuner, Shruti.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·  Practice apps with pitch feedback and lesson tracks — Carnatic Singer, Riyaz.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·  AI accompaniment and raga detection — NaadSadhana, an Apple Design Award winner with 410 ragas.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·  Notation typing tools — Haathi Carnatic Editor.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·  Research corpora — CompMusic, Saraga, Sanidha.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91640"/>
            <a:ext cx="50292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965960"/>
            <a:ext cx="4389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B3401F"/>
                </a:solidFill>
                <a:latin typeface="Georgia"/>
              </a:rPr>
              <a:t>Less crowded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·  Continuous transcription of a phrase into tala-aligned notation, not just the current note.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·  Runs entirely in the browser — no install, no account, works offline.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53F36"/>
                </a:solidFill>
                <a:latin typeface="Helvetica Neue"/>
              </a:rPr>
              <a:t>·  Published accuracy against public datasets, with the harness in the repo.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01F"/>
                </a:solidFill>
                <a:latin typeface="Helvetica Neue"/>
              </a:rPr>
              <a:t>·  A machine-readable SSP corpus with provenance — as far as we know, the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303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56D5E"/>
                </a:solidFill>
                <a:latin typeface="Helvetica Neue"/>
              </a:rPr>
              <a:t>Honest reading: the transcription feature is differentiated, not unique. The extracted SSP corpus is the genuinely novel contribution.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743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3401F"/>
                </a:solidFill>
                <a:latin typeface="Menlo"/>
              </a:rPr>
              <a:t>WHERE IT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200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C1915"/>
                </a:solidFill>
                <a:latin typeface="Georgia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605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53F36"/>
                </a:solidFill>
                <a:latin typeface="Helvetica Neue"/>
              </a:rPr>
              <a:t>·  Raise the SSP yield — every point converts directly into complete works.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453F36"/>
                </a:solidFill>
                <a:latin typeface="Helvetica Neue"/>
              </a:rPr>
              <a:t>·  Cut the voicing false alarm; it is the weakest measured number.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453F36"/>
                </a:solidFill>
                <a:latin typeface="Helvetica Neue"/>
              </a:rPr>
              <a:t>·  Phrase-level ragam identification, where the published work actually lives.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756D5E"/>
                </a:solidFill>
                <a:latin typeface="Helvetica Neue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453F36"/>
                </a:solidFill>
                <a:latin typeface="Helvetica Neue"/>
              </a:rPr>
              <a:t>·  Attach openly-licensed audio to notated works, so a student can hear and read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82512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56D5E"/>
                </a:solidFill>
                <a:latin typeface="Menlo"/>
              </a:rPr>
              <a:t>Questions, corrections, missing compositions — Vinoth Kannan, vinoth.kannan.eu(at)gmail.com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