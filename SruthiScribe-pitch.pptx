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40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03120"/>
            <a:ext cx="10058400" cy="1005840"/>
          </a:xfrm>
          <a:prstGeom prst="rect">
            <a:avLst/>
          </a:prstGeom>
          <a:noFill/>
        </p:spPr>
        <p:txBody>
          <a:bodyPr wrap="square" anchor="t" lIns="0" rIns="0" tIns="0" bIns="0">
            <a:spAutoFit/>
          </a:bodyPr>
          <a:lstStyle/>
          <a:p>
            <a:pPr algn="l">
              <a:lnSpc>
                <a:spcPct val="100000"/>
              </a:lnSpc>
            </a:pPr>
            <a:r>
              <a:rPr sz="6000" b="1">
                <a:solidFill>
                  <a:srgbClr val="1C1915"/>
                </a:solidFill>
                <a:latin typeface="Georgia"/>
              </a:rPr>
              <a:t>SruthiScribe</a:t>
            </a:r>
          </a:p>
        </p:txBody>
      </p:sp>
      <p:sp>
        <p:nvSpPr>
          <p:cNvPr id="4" name="TextBox 3"/>
          <p:cNvSpPr txBox="1"/>
          <p:nvPr/>
        </p:nvSpPr>
        <p:spPr>
          <a:xfrm>
            <a:off x="1005840" y="3063240"/>
            <a:ext cx="9601200" cy="822960"/>
          </a:xfrm>
          <a:prstGeom prst="rect">
            <a:avLst/>
          </a:prstGeom>
          <a:noFill/>
        </p:spPr>
        <p:txBody>
          <a:bodyPr wrap="square" anchor="t" lIns="0" rIns="0" tIns="0" bIns="0">
            <a:spAutoFit/>
          </a:bodyPr>
          <a:lstStyle/>
          <a:p>
            <a:pPr algn="l">
              <a:lnSpc>
                <a:spcPct val="100000"/>
              </a:lnSpc>
            </a:pPr>
            <a:r>
              <a:rPr sz="2600" b="0">
                <a:solidFill>
                  <a:srgbClr val="B3401F"/>
                </a:solidFill>
                <a:latin typeface="Georgia"/>
              </a:rPr>
              <a:t>Sing it. Read it back as svaras.</a:t>
            </a:r>
          </a:p>
        </p:txBody>
      </p:sp>
      <p:sp>
        <p:nvSpPr>
          <p:cNvPr id="5" name="TextBox 4"/>
          <p:cNvSpPr txBox="1"/>
          <p:nvPr/>
        </p:nvSpPr>
        <p:spPr>
          <a:xfrm>
            <a:off x="1005840" y="3886200"/>
            <a:ext cx="9326880" cy="1280160"/>
          </a:xfrm>
          <a:prstGeom prst="rect">
            <a:avLst/>
          </a:prstGeom>
          <a:noFill/>
        </p:spPr>
        <p:txBody>
          <a:bodyPr wrap="square" anchor="t" lIns="0" rIns="0" tIns="0" bIns="0">
            <a:spAutoFit/>
          </a:bodyPr>
          <a:lstStyle/>
          <a:p>
            <a:pPr algn="l">
              <a:lnSpc>
                <a:spcPct val="100000"/>
              </a:lnSpc>
            </a:pPr>
            <a:r>
              <a:rPr sz="1600" b="0">
                <a:solidFill>
                  <a:srgbClr val="453F36"/>
                </a:solidFill>
                <a:latin typeface="Helvetica Neue"/>
              </a:rPr>
              <a:t>A browser-based Carnatic transcription engine, an open machine-readable library of the repertoire, and guided practice against it.</a:t>
            </a:r>
          </a:p>
        </p:txBody>
      </p:sp>
      <p:sp>
        <p:nvSpPr>
          <p:cNvPr id="6" name="TextBox 5"/>
          <p:cNvSpPr txBox="1"/>
          <p:nvPr/>
        </p:nvSpPr>
        <p:spPr>
          <a:xfrm>
            <a:off x="1005840" y="5504688"/>
            <a:ext cx="10058400" cy="868680"/>
          </a:xfrm>
          <a:prstGeom prst="rect">
            <a:avLst/>
          </a:prstGeom>
          <a:noFill/>
        </p:spPr>
        <p:txBody>
          <a:bodyPr wrap="square" anchor="t" lIns="0" rIns="0" tIns="0" bIns="0">
            <a:spAutoFit/>
          </a:bodyPr>
          <a:lstStyle/>
          <a:p>
            <a:pPr algn="l">
              <a:lnSpc>
                <a:spcPct val="150000"/>
              </a:lnSpc>
            </a:pPr>
            <a:r>
              <a:rPr sz="1250" b="0">
                <a:solidFill>
                  <a:srgbClr val="8A6D2F"/>
                </a:solidFill>
                <a:latin typeface="Menlo"/>
              </a:rPr>
              <a:t>Vinoth Kannan  ·  vinoth.kannan.eu@gmail.com</a:t>
            </a:r>
          </a:p>
          <a:p>
            <a:pPr algn="l">
              <a:lnSpc>
                <a:spcPct val="150000"/>
              </a:lnSpc>
            </a:pPr>
            <a:r>
              <a:rPr sz="1200" b="0">
                <a:solidFill>
                  <a:srgbClr val="756D5E"/>
                </a:solidFill>
                <a:latin typeface="Menlo"/>
              </a:rPr>
              <a:t>Beta  ·  measured accuracy, published limits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THE PROBLEM</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Carnatic music is taught by ear, and stays there</a:t>
            </a:r>
          </a:p>
        </p:txBody>
      </p:sp>
      <p:sp>
        <p:nvSpPr>
          <p:cNvPr id="4" name="TextBox 3"/>
          <p:cNvSpPr txBox="1"/>
          <p:nvPr/>
        </p:nvSpPr>
        <p:spPr>
          <a:xfrm>
            <a:off x="822960" y="1783080"/>
            <a:ext cx="512064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A student cannot see what they just sang</a:t>
            </a:r>
          </a:p>
        </p:txBody>
      </p:sp>
      <p:sp>
        <p:nvSpPr>
          <p:cNvPr id="5" name="TextBox 4"/>
          <p:cNvSpPr txBox="1"/>
          <p:nvPr/>
        </p:nvSpPr>
        <p:spPr>
          <a:xfrm>
            <a:off x="822960" y="2057400"/>
            <a:ext cx="512064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Correction happens in the lesson, from the teacher's ear. Between lessons there is no feedback at all.</a:t>
            </a:r>
          </a:p>
        </p:txBody>
      </p:sp>
      <p:sp>
        <p:nvSpPr>
          <p:cNvPr id="6" name="TextBox 5"/>
          <p:cNvSpPr txBox="1"/>
          <p:nvPr/>
        </p:nvSpPr>
        <p:spPr>
          <a:xfrm>
            <a:off x="822960" y="2752344"/>
            <a:ext cx="512064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Notation exists, but not where you need it</a:t>
            </a:r>
          </a:p>
        </p:txBody>
      </p:sp>
      <p:sp>
        <p:nvSpPr>
          <p:cNvPr id="7" name="TextBox 6"/>
          <p:cNvSpPr txBox="1"/>
          <p:nvPr/>
        </p:nvSpPr>
        <p:spPr>
          <a:xfrm>
            <a:off x="822960" y="3026664"/>
            <a:ext cx="512064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Printed books, PDFs and scanned archives — none of it queryable, none of it aligned to what you are singing.</a:t>
            </a:r>
          </a:p>
        </p:txBody>
      </p:sp>
      <p:sp>
        <p:nvSpPr>
          <p:cNvPr id="8" name="TextBox 7"/>
          <p:cNvSpPr txBox="1"/>
          <p:nvPr/>
        </p:nvSpPr>
        <p:spPr>
          <a:xfrm>
            <a:off x="822960" y="3721608"/>
            <a:ext cx="512064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reference corpus is scattered and closed</a:t>
            </a:r>
          </a:p>
        </p:txBody>
      </p:sp>
      <p:sp>
        <p:nvSpPr>
          <p:cNvPr id="9" name="TextBox 8"/>
          <p:cNvSpPr txBox="1"/>
          <p:nvPr/>
        </p:nvSpPr>
        <p:spPr>
          <a:xfrm>
            <a:off x="822960" y="3995928"/>
            <a:ext cx="512064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Ragam definitions on one site, lyrics on another, notation in a 1904 book. Little of it is machine-readable.</a:t>
            </a:r>
          </a:p>
        </p:txBody>
      </p:sp>
      <p:sp>
        <p:nvSpPr>
          <p:cNvPr id="10" name="Rounded Rectangle 9"/>
          <p:cNvSpPr/>
          <p:nvPr/>
        </p:nvSpPr>
        <p:spPr>
          <a:xfrm>
            <a:off x="6400800" y="1783080"/>
            <a:ext cx="4937760" cy="292608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0840" y="2057400"/>
            <a:ext cx="4297680" cy="2377440"/>
          </a:xfrm>
          <a:prstGeom prst="rect">
            <a:avLst/>
          </a:prstGeom>
          <a:noFill/>
        </p:spPr>
        <p:txBody>
          <a:bodyPr wrap="square" anchor="t" lIns="0" rIns="0" tIns="0" bIns="0">
            <a:spAutoFit/>
          </a:bodyPr>
          <a:lstStyle/>
          <a:p>
            <a:pPr algn="l">
              <a:lnSpc>
                <a:spcPct val="135000"/>
              </a:lnSpc>
            </a:pPr>
            <a:r>
              <a:rPr sz="1500" b="1">
                <a:solidFill>
                  <a:srgbClr val="1C1915"/>
                </a:solidFill>
                <a:latin typeface="Helvetica Neue"/>
              </a:rPr>
              <a:t>What a learner actually has today</a:t>
            </a:r>
          </a:p>
          <a:p>
            <a:pPr algn="l">
              <a:lnSpc>
                <a:spcPct val="135000"/>
              </a:lnSpc>
            </a:pPr>
            <a:r>
              <a:rPr sz="800" b="0">
                <a:solidFill>
                  <a:srgbClr val="756D5E"/>
                </a:solidFill>
                <a:latin typeface="Helvetica Neue"/>
              </a:rPr>
              <a:t/>
            </a:r>
          </a:p>
          <a:p>
            <a:pPr algn="l">
              <a:lnSpc>
                <a:spcPct val="135000"/>
              </a:lnSpc>
            </a:pPr>
            <a:r>
              <a:rPr sz="1300" b="0">
                <a:solidFill>
                  <a:srgbClr val="453F36"/>
                </a:solidFill>
                <a:latin typeface="Helvetica Neue"/>
              </a:rPr>
              <a:t>A tanpura app for the drone.</a:t>
            </a:r>
          </a:p>
          <a:p>
            <a:pPr algn="l">
              <a:lnSpc>
                <a:spcPct val="135000"/>
              </a:lnSpc>
            </a:pPr>
            <a:r>
              <a:rPr sz="1300" b="0">
                <a:solidFill>
                  <a:srgbClr val="453F36"/>
                </a:solidFill>
                <a:latin typeface="Helvetica Neue"/>
              </a:rPr>
              <a:t>A tuner that says whether one note is sharp.</a:t>
            </a:r>
          </a:p>
          <a:p>
            <a:pPr algn="l">
              <a:lnSpc>
                <a:spcPct val="135000"/>
              </a:lnSpc>
            </a:pPr>
            <a:r>
              <a:rPr sz="1300" b="0">
                <a:solidFill>
                  <a:srgbClr val="453F36"/>
                </a:solidFill>
                <a:latin typeface="Helvetica Neue"/>
              </a:rPr>
              <a:t>A PDF of notation they cannot search.</a:t>
            </a:r>
          </a:p>
          <a:p>
            <a:pPr algn="l">
              <a:lnSpc>
                <a:spcPct val="135000"/>
              </a:lnSpc>
            </a:pPr>
            <a:r>
              <a:rPr sz="1300" b="0">
                <a:solidFill>
                  <a:srgbClr val="453F36"/>
                </a:solidFill>
                <a:latin typeface="Helvetica Neue"/>
              </a:rPr>
              <a:t>A recording of their own practice they will never listen back to.</a:t>
            </a:r>
          </a:p>
          <a:p>
            <a:pPr algn="l">
              <a:lnSpc>
                <a:spcPct val="135000"/>
              </a:lnSpc>
            </a:pPr>
            <a:r>
              <a:rPr sz="800" b="0">
                <a:solidFill>
                  <a:srgbClr val="756D5E"/>
                </a:solidFill>
                <a:latin typeface="Helvetica Neue"/>
              </a:rPr>
              <a:t/>
            </a:r>
          </a:p>
          <a:p>
            <a:pPr algn="l">
              <a:lnSpc>
                <a:spcPct val="135000"/>
              </a:lnSpc>
            </a:pPr>
            <a:r>
              <a:rPr sz="1300" b="1">
                <a:solidFill>
                  <a:srgbClr val="B3401F"/>
                </a:solidFill>
                <a:latin typeface="Helvetica Neue"/>
              </a:rPr>
              <a:t>Nothing that turns the singing into notation.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THE NEED</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A loop, not a tool</a:t>
            </a:r>
          </a:p>
        </p:txBody>
      </p:sp>
      <p:sp>
        <p:nvSpPr>
          <p:cNvPr id="4" name="Rounded Rectangle 3"/>
          <p:cNvSpPr/>
          <p:nvPr/>
        </p:nvSpPr>
        <p:spPr>
          <a:xfrm>
            <a:off x="822960" y="1737360"/>
            <a:ext cx="3328416" cy="214884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011680"/>
            <a:ext cx="2779776" cy="1828800"/>
          </a:xfrm>
          <a:prstGeom prst="rect">
            <a:avLst/>
          </a:prstGeom>
          <a:noFill/>
        </p:spPr>
        <p:txBody>
          <a:bodyPr wrap="square" anchor="t" lIns="0" rIns="0" tIns="0" bIns="0">
            <a:spAutoFit/>
          </a:bodyPr>
          <a:lstStyle/>
          <a:p>
            <a:pPr algn="l">
              <a:lnSpc>
                <a:spcPct val="130000"/>
              </a:lnSpc>
            </a:pPr>
            <a:r>
              <a:rPr sz="1550" b="1">
                <a:solidFill>
                  <a:srgbClr val="B3401F"/>
                </a:solidFill>
                <a:latin typeface="Georgia"/>
              </a:rPr>
              <a:t>1 · Hear yourself</a:t>
            </a:r>
          </a:p>
          <a:p>
            <a:pPr algn="l">
              <a:lnSpc>
                <a:spcPct val="130000"/>
              </a:lnSpc>
            </a:pPr>
            <a:r>
              <a:rPr sz="900" b="0">
                <a:solidFill>
                  <a:srgbClr val="756D5E"/>
                </a:solidFill>
                <a:latin typeface="Helvetica Neue"/>
              </a:rPr>
              <a:t/>
            </a:r>
          </a:p>
          <a:p>
            <a:pPr algn="l">
              <a:lnSpc>
                <a:spcPct val="130000"/>
              </a:lnSpc>
            </a:pPr>
            <a:r>
              <a:rPr sz="1250" b="0">
                <a:solidFill>
                  <a:srgbClr val="453F36"/>
                </a:solidFill>
                <a:latin typeface="Helvetica Neue"/>
              </a:rPr>
              <a:t>Sing a phrase; get back svaras with sthayi, gamaka and avartana bars, laid out the way the tradition prints it.</a:t>
            </a:r>
          </a:p>
        </p:txBody>
      </p:sp>
      <p:sp>
        <p:nvSpPr>
          <p:cNvPr id="6" name="Rounded Rectangle 5"/>
          <p:cNvSpPr/>
          <p:nvPr/>
        </p:nvSpPr>
        <p:spPr>
          <a:xfrm>
            <a:off x="4425696" y="1737360"/>
            <a:ext cx="3328416" cy="214884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00016" y="2011680"/>
            <a:ext cx="2779776" cy="1828800"/>
          </a:xfrm>
          <a:prstGeom prst="rect">
            <a:avLst/>
          </a:prstGeom>
          <a:noFill/>
        </p:spPr>
        <p:txBody>
          <a:bodyPr wrap="square" anchor="t" lIns="0" rIns="0" tIns="0" bIns="0">
            <a:spAutoFit/>
          </a:bodyPr>
          <a:lstStyle/>
          <a:p>
            <a:pPr algn="l">
              <a:lnSpc>
                <a:spcPct val="130000"/>
              </a:lnSpc>
            </a:pPr>
            <a:r>
              <a:rPr sz="1550" b="1">
                <a:solidFill>
                  <a:srgbClr val="0E6B5C"/>
                </a:solidFill>
                <a:latin typeface="Georgia"/>
              </a:rPr>
              <a:t>2 · Find it written</a:t>
            </a:r>
          </a:p>
          <a:p>
            <a:pPr algn="l">
              <a:lnSpc>
                <a:spcPct val="130000"/>
              </a:lnSpc>
            </a:pPr>
            <a:r>
              <a:rPr sz="900" b="0">
                <a:solidFill>
                  <a:srgbClr val="756D5E"/>
                </a:solidFill>
                <a:latin typeface="Helvetica Neue"/>
              </a:rPr>
              <a:t/>
            </a:r>
          </a:p>
          <a:p>
            <a:pPr algn="l">
              <a:lnSpc>
                <a:spcPct val="130000"/>
              </a:lnSpc>
            </a:pPr>
            <a:r>
              <a:rPr sz="1250" b="0">
                <a:solidFill>
                  <a:srgbClr val="453F36"/>
                </a:solidFill>
                <a:latin typeface="Helvetica Neue"/>
              </a:rPr>
              <a:t>Compositions, ragams, talams and notation in one place, searchable, with the source and licence of every row recorded.</a:t>
            </a:r>
          </a:p>
        </p:txBody>
      </p:sp>
      <p:sp>
        <p:nvSpPr>
          <p:cNvPr id="8" name="Rounded Rectangle 7"/>
          <p:cNvSpPr/>
          <p:nvPr/>
        </p:nvSpPr>
        <p:spPr>
          <a:xfrm>
            <a:off x="8028431" y="1737360"/>
            <a:ext cx="3328416" cy="214884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2011680"/>
            <a:ext cx="2779776" cy="1828800"/>
          </a:xfrm>
          <a:prstGeom prst="rect">
            <a:avLst/>
          </a:prstGeom>
          <a:noFill/>
        </p:spPr>
        <p:txBody>
          <a:bodyPr wrap="square" anchor="t" lIns="0" rIns="0" tIns="0" bIns="0">
            <a:spAutoFit/>
          </a:bodyPr>
          <a:lstStyle/>
          <a:p>
            <a:pPr algn="l">
              <a:lnSpc>
                <a:spcPct val="130000"/>
              </a:lnSpc>
            </a:pPr>
            <a:r>
              <a:rPr sz="1550" b="1">
                <a:solidFill>
                  <a:srgbClr val="8A6D2F"/>
                </a:solidFill>
                <a:latin typeface="Georgia"/>
              </a:rPr>
              <a:t>3 · Practise against it</a:t>
            </a:r>
          </a:p>
          <a:p>
            <a:pPr algn="l">
              <a:lnSpc>
                <a:spcPct val="130000"/>
              </a:lnSpc>
            </a:pPr>
            <a:r>
              <a:rPr sz="900" b="0">
                <a:solidFill>
                  <a:srgbClr val="756D5E"/>
                </a:solidFill>
                <a:latin typeface="Helvetica Neue"/>
              </a:rPr>
              <a:t/>
            </a:r>
          </a:p>
          <a:p>
            <a:pPr algn="l">
              <a:lnSpc>
                <a:spcPct val="130000"/>
              </a:lnSpc>
            </a:pPr>
            <a:r>
              <a:rPr sz="1250" b="0">
                <a:solidFill>
                  <a:srgbClr val="453F36"/>
                </a:solidFill>
                <a:latin typeface="Helvetica Neue"/>
              </a:rPr>
              <a:t>Sing a written composition and be told, svara by svara, which you held and which you missed — in cents, not opinion.</a:t>
            </a:r>
          </a:p>
        </p:txBody>
      </p:sp>
      <p:sp>
        <p:nvSpPr>
          <p:cNvPr id="10" name="TextBox 9"/>
          <p:cNvSpPr txBox="1"/>
          <p:nvPr/>
        </p:nvSpPr>
        <p:spPr>
          <a:xfrm>
            <a:off x="822960" y="4206240"/>
            <a:ext cx="10515600" cy="82296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Each stage feeds the next. The library gives the decoder its ragam and tala; the decoder gives the library new readings; the notation gives practice something exact to score against. A student can sing a kriti they cannot yet write, contribute it, and then practise the thing they just wrote.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FUNCTIONALITY</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What it does today</a:t>
            </a:r>
          </a:p>
        </p:txBody>
      </p:sp>
      <p:sp>
        <p:nvSpPr>
          <p:cNvPr id="4" name="TextBox 3"/>
          <p:cNvSpPr txBox="1"/>
          <p:nvPr/>
        </p:nvSpPr>
        <p:spPr>
          <a:xfrm>
            <a:off x="822960" y="187451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Record or upload, and read it back</a:t>
            </a:r>
          </a:p>
        </p:txBody>
      </p:sp>
      <p:sp>
        <p:nvSpPr>
          <p:cNvPr id="5" name="TextBox 4"/>
          <p:cNvSpPr txBox="1"/>
          <p:nvPr/>
        </p:nvSpPr>
        <p:spPr>
          <a:xfrm>
            <a:off x="822960" y="214883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Microphone or file, in the browser. Svaras with octave, duration, gamaka class and cents deviation.</a:t>
            </a:r>
          </a:p>
        </p:txBody>
      </p:sp>
      <p:sp>
        <p:nvSpPr>
          <p:cNvPr id="6" name="TextBox 5"/>
          <p:cNvSpPr txBox="1"/>
          <p:nvPr/>
        </p:nvSpPr>
        <p:spPr>
          <a:xfrm>
            <a:off x="822960" y="2843783"/>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Tala-aware layout</a:t>
            </a:r>
          </a:p>
        </p:txBody>
      </p:sp>
      <p:sp>
        <p:nvSpPr>
          <p:cNvPr id="7" name="TextBox 6"/>
          <p:cNvSpPr txBox="1"/>
          <p:nvPr/>
        </p:nvSpPr>
        <p:spPr>
          <a:xfrm>
            <a:off x="822960" y="3118103"/>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All seven suladi sapta talas × five jatis, nadai 1x–8x, avartana and anga bar lines, sahitya under the svaras.</a:t>
            </a:r>
          </a:p>
        </p:txBody>
      </p:sp>
      <p:sp>
        <p:nvSpPr>
          <p:cNvPr id="8" name="TextBox 7"/>
          <p:cNvSpPr txBox="1"/>
          <p:nvPr/>
        </p:nvSpPr>
        <p:spPr>
          <a:xfrm>
            <a:off x="822960" y="3813047"/>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Fix what it got wrong</a:t>
            </a:r>
          </a:p>
        </p:txBody>
      </p:sp>
      <p:sp>
        <p:nvSpPr>
          <p:cNvPr id="9" name="TextBox 8"/>
          <p:cNvSpPr txBox="1"/>
          <p:nvPr/>
        </p:nvSpPr>
        <p:spPr>
          <a:xfrm>
            <a:off x="822960" y="4087367"/>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Edit any svara, mark the eduppu, regroup speeds — the decode is a starting point, not a verdict.</a:t>
            </a:r>
          </a:p>
        </p:txBody>
      </p:sp>
      <p:sp>
        <p:nvSpPr>
          <p:cNvPr id="10" name="TextBox 9"/>
          <p:cNvSpPr txBox="1"/>
          <p:nvPr/>
        </p:nvSpPr>
        <p:spPr>
          <a:xfrm>
            <a:off x="822960" y="4782311"/>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Export</a:t>
            </a:r>
          </a:p>
        </p:txBody>
      </p:sp>
      <p:sp>
        <p:nvSpPr>
          <p:cNvPr id="11" name="TextBox 10"/>
          <p:cNvSpPr txBox="1"/>
          <p:nvPr/>
        </p:nvSpPr>
        <p:spPr>
          <a:xfrm>
            <a:off x="822960" y="5056631"/>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Print-quality PDF laid out as the tradition prints it, JSON, or contribute the reading to the library.</a:t>
            </a:r>
          </a:p>
        </p:txBody>
      </p:sp>
      <p:sp>
        <p:nvSpPr>
          <p:cNvPr id="12" name="TextBox 11"/>
          <p:cNvSpPr txBox="1"/>
          <p:nvPr/>
        </p:nvSpPr>
        <p:spPr>
          <a:xfrm>
            <a:off x="6309360" y="187451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A library of 598 compositions</a:t>
            </a:r>
          </a:p>
        </p:txBody>
      </p:sp>
      <p:sp>
        <p:nvSpPr>
          <p:cNvPr id="13" name="TextBox 12"/>
          <p:cNvSpPr txBox="1"/>
          <p:nvPr/>
        </p:nvSpPr>
        <p:spPr>
          <a:xfrm>
            <a:off x="6309360" y="214883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42 with complete notation, searchable by ragam, tala, composer, deity and how complete the notation is.</a:t>
            </a:r>
          </a:p>
        </p:txBody>
      </p:sp>
      <p:sp>
        <p:nvSpPr>
          <p:cNvPr id="14" name="TextBox 13"/>
          <p:cNvSpPr txBox="1"/>
          <p:nvPr/>
        </p:nvSpPr>
        <p:spPr>
          <a:xfrm>
            <a:off x="6309360" y="2843783"/>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939 ragams</a:t>
            </a:r>
          </a:p>
        </p:txBody>
      </p:sp>
      <p:sp>
        <p:nvSpPr>
          <p:cNvPr id="15" name="TextBox 14"/>
          <p:cNvSpPr txBox="1"/>
          <p:nvPr/>
        </p:nvSpPr>
        <p:spPr>
          <a:xfrm>
            <a:off x="6309360" y="3118103"/>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All 72 melakartas and their janyas, with arohana/avarohana; 120 wired into the decoder as constraints.</a:t>
            </a:r>
          </a:p>
        </p:txBody>
      </p:sp>
      <p:sp>
        <p:nvSpPr>
          <p:cNvPr id="16" name="TextBox 15"/>
          <p:cNvSpPr txBox="1"/>
          <p:nvPr/>
        </p:nvSpPr>
        <p:spPr>
          <a:xfrm>
            <a:off x="6309360" y="3813047"/>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Provenance on every row</a:t>
            </a:r>
          </a:p>
        </p:txBody>
      </p:sp>
      <p:sp>
        <p:nvSpPr>
          <p:cNvPr id="17" name="TextBox 16"/>
          <p:cNvSpPr txBox="1"/>
          <p:nvPr/>
        </p:nvSpPr>
        <p:spPr>
          <a:xfrm>
            <a:off x="6309360" y="4087367"/>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Source, licence and page, so a notation can be checked against the book it came from.</a:t>
            </a:r>
          </a:p>
        </p:txBody>
      </p:sp>
      <p:sp>
        <p:nvSpPr>
          <p:cNvPr id="18" name="TextBox 17"/>
          <p:cNvSpPr txBox="1"/>
          <p:nvPr/>
        </p:nvSpPr>
        <p:spPr>
          <a:xfrm>
            <a:off x="6309360" y="4782311"/>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Sadhana — guided practice</a:t>
            </a:r>
          </a:p>
        </p:txBody>
      </p:sp>
      <p:sp>
        <p:nvSpPr>
          <p:cNvPr id="19" name="TextBox 18"/>
          <p:cNvSpPr txBox="1"/>
          <p:nvPr/>
        </p:nvSpPr>
        <p:spPr>
          <a:xfrm>
            <a:off x="6309360" y="5056631"/>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Sing any notated composition against a scrolling stage with a drone and a tala click; scored per svara in cents.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TECHNICAL ARCHITECTURE</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A signal-processing pipeline, entirely in the browser</a:t>
            </a:r>
          </a:p>
        </p:txBody>
      </p:sp>
      <p:sp>
        <p:nvSpPr>
          <p:cNvPr id="4" name="Rounded Rectangle 3"/>
          <p:cNvSpPr/>
          <p:nvPr/>
        </p:nvSpPr>
        <p:spPr>
          <a:xfrm>
            <a:off x="822960"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29968"/>
            <a:ext cx="1574749" cy="365760"/>
          </a:xfrm>
          <a:prstGeom prst="rect">
            <a:avLst/>
          </a:prstGeom>
          <a:noFill/>
        </p:spPr>
        <p:txBody>
          <a:bodyPr wrap="square" anchor="t" lIns="0" rIns="0" tIns="0" bIns="0">
            <a:spAutoFit/>
          </a:bodyPr>
          <a:lstStyle/>
          <a:p>
            <a:pPr algn="ctr">
              <a:lnSpc>
                <a:spcPct val="100000"/>
              </a:lnSpc>
            </a:pPr>
            <a:r>
              <a:rPr sz="1500" b="1">
                <a:solidFill>
                  <a:srgbClr val="0E6B5C"/>
                </a:solidFill>
                <a:latin typeface="Helvetica Neue"/>
              </a:rPr>
              <a:t>Audio</a:t>
            </a:r>
          </a:p>
        </p:txBody>
      </p:sp>
      <p:sp>
        <p:nvSpPr>
          <p:cNvPr id="6" name="TextBox 5"/>
          <p:cNvSpPr txBox="1"/>
          <p:nvPr/>
        </p:nvSpPr>
        <p:spPr>
          <a:xfrm>
            <a:off x="822960"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mic or file
16 kHz mono</a:t>
            </a:r>
          </a:p>
        </p:txBody>
      </p:sp>
      <p:sp>
        <p:nvSpPr>
          <p:cNvPr id="7" name="TextBox 6"/>
          <p:cNvSpPr txBox="1"/>
          <p:nvPr/>
        </p:nvSpPr>
        <p:spPr>
          <a:xfrm>
            <a:off x="2397709"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8" name="Rounded Rectangle 7"/>
          <p:cNvSpPr/>
          <p:nvPr/>
        </p:nvSpPr>
        <p:spPr>
          <a:xfrm>
            <a:off x="2653741"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3741" y="2029968"/>
            <a:ext cx="1574749" cy="365760"/>
          </a:xfrm>
          <a:prstGeom prst="rect">
            <a:avLst/>
          </a:prstGeom>
          <a:noFill/>
        </p:spPr>
        <p:txBody>
          <a:bodyPr wrap="square" anchor="t" lIns="0" rIns="0" tIns="0" bIns="0">
            <a:spAutoFit/>
          </a:bodyPr>
          <a:lstStyle/>
          <a:p>
            <a:pPr algn="ctr">
              <a:lnSpc>
                <a:spcPct val="100000"/>
              </a:lnSpc>
            </a:pPr>
            <a:r>
              <a:rPr sz="1500" b="1">
                <a:solidFill>
                  <a:srgbClr val="0E6B5C"/>
                </a:solidFill>
                <a:latin typeface="Helvetica Neue"/>
              </a:rPr>
              <a:t>YIN</a:t>
            </a:r>
          </a:p>
        </p:txBody>
      </p:sp>
      <p:sp>
        <p:nvSpPr>
          <p:cNvPr id="10" name="TextBox 9"/>
          <p:cNvSpPr txBox="1"/>
          <p:nvPr/>
        </p:nvSpPr>
        <p:spPr>
          <a:xfrm>
            <a:off x="2653741"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pitch track
50 ms window</a:t>
            </a:r>
          </a:p>
        </p:txBody>
      </p:sp>
      <p:sp>
        <p:nvSpPr>
          <p:cNvPr id="11" name="TextBox 10"/>
          <p:cNvSpPr txBox="1"/>
          <p:nvPr/>
        </p:nvSpPr>
        <p:spPr>
          <a:xfrm>
            <a:off x="4228490"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12" name="Rounded Rectangle 11"/>
          <p:cNvSpPr/>
          <p:nvPr/>
        </p:nvSpPr>
        <p:spPr>
          <a:xfrm>
            <a:off x="4484522"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4522" y="2029968"/>
            <a:ext cx="1574749" cy="365760"/>
          </a:xfrm>
          <a:prstGeom prst="rect">
            <a:avLst/>
          </a:prstGeom>
          <a:noFill/>
        </p:spPr>
        <p:txBody>
          <a:bodyPr wrap="square" anchor="t" lIns="0" rIns="0" tIns="0" bIns="0">
            <a:spAutoFit/>
          </a:bodyPr>
          <a:lstStyle/>
          <a:p>
            <a:pPr algn="ctr">
              <a:lnSpc>
                <a:spcPct val="100000"/>
              </a:lnSpc>
            </a:pPr>
            <a:r>
              <a:rPr sz="1500" b="1">
                <a:solidFill>
                  <a:srgbClr val="0E6B5C"/>
                </a:solidFill>
                <a:latin typeface="Helvetica Neue"/>
              </a:rPr>
              <a:t>Voicing</a:t>
            </a:r>
          </a:p>
        </p:txBody>
      </p:sp>
      <p:sp>
        <p:nvSpPr>
          <p:cNvPr id="14" name="TextBox 13"/>
          <p:cNvSpPr txBox="1"/>
          <p:nvPr/>
        </p:nvSpPr>
        <p:spPr>
          <a:xfrm>
            <a:off x="4484522"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energy + confidence
90 ms min. note</a:t>
            </a:r>
          </a:p>
        </p:txBody>
      </p:sp>
      <p:sp>
        <p:nvSpPr>
          <p:cNvPr id="15" name="TextBox 14"/>
          <p:cNvSpPr txBox="1"/>
          <p:nvPr/>
        </p:nvSpPr>
        <p:spPr>
          <a:xfrm>
            <a:off x="6059271"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16" name="Rounded Rectangle 15"/>
          <p:cNvSpPr/>
          <p:nvPr/>
        </p:nvSpPr>
        <p:spPr>
          <a:xfrm>
            <a:off x="6315303"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5303" y="2029968"/>
            <a:ext cx="1574749" cy="365760"/>
          </a:xfrm>
          <a:prstGeom prst="rect">
            <a:avLst/>
          </a:prstGeom>
          <a:noFill/>
        </p:spPr>
        <p:txBody>
          <a:bodyPr wrap="square" anchor="t" lIns="0" rIns="0" tIns="0" bIns="0">
            <a:spAutoFit/>
          </a:bodyPr>
          <a:lstStyle/>
          <a:p>
            <a:pPr algn="ctr">
              <a:lnSpc>
                <a:spcPct val="100000"/>
              </a:lnSpc>
            </a:pPr>
            <a:r>
              <a:rPr sz="1500" b="1">
                <a:solidFill>
                  <a:srgbClr val="B3401F"/>
                </a:solidFill>
                <a:latin typeface="Helvetica Neue"/>
              </a:rPr>
              <a:t>Tonic</a:t>
            </a:r>
          </a:p>
        </p:txBody>
      </p:sp>
      <p:sp>
        <p:nvSpPr>
          <p:cNvPr id="18" name="TextBox 17"/>
          <p:cNvSpPr txBox="1"/>
          <p:nvPr/>
        </p:nvSpPr>
        <p:spPr>
          <a:xfrm>
            <a:off x="6315303"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pitch histogram
auto-sruthi</a:t>
            </a:r>
          </a:p>
        </p:txBody>
      </p:sp>
      <p:sp>
        <p:nvSpPr>
          <p:cNvPr id="19" name="TextBox 18"/>
          <p:cNvSpPr txBox="1"/>
          <p:nvPr/>
        </p:nvSpPr>
        <p:spPr>
          <a:xfrm>
            <a:off x="7890052"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20" name="Rounded Rectangle 19"/>
          <p:cNvSpPr/>
          <p:nvPr/>
        </p:nvSpPr>
        <p:spPr>
          <a:xfrm>
            <a:off x="8146084"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46084" y="2029968"/>
            <a:ext cx="1574749" cy="365760"/>
          </a:xfrm>
          <a:prstGeom prst="rect">
            <a:avLst/>
          </a:prstGeom>
          <a:noFill/>
        </p:spPr>
        <p:txBody>
          <a:bodyPr wrap="square" anchor="t" lIns="0" rIns="0" tIns="0" bIns="0">
            <a:spAutoFit/>
          </a:bodyPr>
          <a:lstStyle/>
          <a:p>
            <a:pPr algn="ctr">
              <a:lnSpc>
                <a:spcPct val="100000"/>
              </a:lnSpc>
            </a:pPr>
            <a:r>
              <a:rPr sz="1500" b="1">
                <a:solidFill>
                  <a:srgbClr val="B3401F"/>
                </a:solidFill>
                <a:latin typeface="Helvetica Neue"/>
              </a:rPr>
              <a:t>Viterbi</a:t>
            </a:r>
          </a:p>
        </p:txBody>
      </p:sp>
      <p:sp>
        <p:nvSpPr>
          <p:cNvPr id="22" name="TextBox 21"/>
          <p:cNvSpPr txBox="1"/>
          <p:nvPr/>
        </p:nvSpPr>
        <p:spPr>
          <a:xfrm>
            <a:off x="8146084"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ragam-constrained
svara decode</a:t>
            </a:r>
          </a:p>
        </p:txBody>
      </p:sp>
      <p:sp>
        <p:nvSpPr>
          <p:cNvPr id="23" name="TextBox 22"/>
          <p:cNvSpPr txBox="1"/>
          <p:nvPr/>
        </p:nvSpPr>
        <p:spPr>
          <a:xfrm>
            <a:off x="9720833" y="2331720"/>
            <a:ext cx="256032" cy="365760"/>
          </a:xfrm>
          <a:prstGeom prst="rect">
            <a:avLst/>
          </a:prstGeom>
          <a:noFill/>
        </p:spPr>
        <p:txBody>
          <a:bodyPr wrap="square" anchor="t" lIns="0" rIns="0" tIns="0" bIns="0">
            <a:spAutoFit/>
          </a:bodyPr>
          <a:lstStyle/>
          <a:p>
            <a:pPr algn="ctr">
              <a:lnSpc>
                <a:spcPct val="100000"/>
              </a:lnSpc>
            </a:pPr>
            <a:r>
              <a:rPr sz="2000" b="1">
                <a:solidFill>
                  <a:srgbClr val="E4DCC9"/>
                </a:solidFill>
                <a:latin typeface="Helvetica Neue"/>
              </a:rPr>
              <a:t>›</a:t>
            </a:r>
          </a:p>
        </p:txBody>
      </p:sp>
      <p:sp>
        <p:nvSpPr>
          <p:cNvPr id="24" name="Rounded Rectangle 23"/>
          <p:cNvSpPr/>
          <p:nvPr/>
        </p:nvSpPr>
        <p:spPr>
          <a:xfrm>
            <a:off x="9976865" y="1828800"/>
            <a:ext cx="1574749" cy="14173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76865" y="2029968"/>
            <a:ext cx="1574749" cy="365760"/>
          </a:xfrm>
          <a:prstGeom prst="rect">
            <a:avLst/>
          </a:prstGeom>
          <a:noFill/>
        </p:spPr>
        <p:txBody>
          <a:bodyPr wrap="square" anchor="t" lIns="0" rIns="0" tIns="0" bIns="0">
            <a:spAutoFit/>
          </a:bodyPr>
          <a:lstStyle/>
          <a:p>
            <a:pPr algn="ctr">
              <a:lnSpc>
                <a:spcPct val="100000"/>
              </a:lnSpc>
            </a:pPr>
            <a:r>
              <a:rPr sz="1500" b="1">
                <a:solidFill>
                  <a:srgbClr val="B3401F"/>
                </a:solidFill>
                <a:latin typeface="Helvetica Neue"/>
              </a:rPr>
              <a:t>Notation</a:t>
            </a:r>
          </a:p>
        </p:txBody>
      </p:sp>
      <p:sp>
        <p:nvSpPr>
          <p:cNvPr id="26" name="TextBox 25"/>
          <p:cNvSpPr txBox="1"/>
          <p:nvPr/>
        </p:nvSpPr>
        <p:spPr>
          <a:xfrm>
            <a:off x="9976865" y="2432304"/>
            <a:ext cx="1574749" cy="731520"/>
          </a:xfrm>
          <a:prstGeom prst="rect">
            <a:avLst/>
          </a:prstGeom>
          <a:noFill/>
        </p:spPr>
        <p:txBody>
          <a:bodyPr wrap="square" anchor="t" lIns="0" rIns="0" tIns="0" bIns="0">
            <a:spAutoFit/>
          </a:bodyPr>
          <a:lstStyle/>
          <a:p>
            <a:pPr algn="ctr">
              <a:lnSpc>
                <a:spcPct val="125000"/>
              </a:lnSpc>
            </a:pPr>
            <a:r>
              <a:rPr sz="1050" b="0">
                <a:solidFill>
                  <a:srgbClr val="756D5E"/>
                </a:solidFill>
                <a:latin typeface="Menlo"/>
              </a:rPr>
              <a:t>tala grid
PDF / JSON</a:t>
            </a:r>
          </a:p>
        </p:txBody>
      </p:sp>
      <p:sp>
        <p:nvSpPr>
          <p:cNvPr id="27" name="TextBox 26"/>
          <p:cNvSpPr txBox="1"/>
          <p:nvPr/>
        </p:nvSpPr>
        <p:spPr>
          <a:xfrm>
            <a:off x="822960" y="374903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No server, no model, no key</a:t>
            </a:r>
          </a:p>
        </p:txBody>
      </p:sp>
      <p:sp>
        <p:nvSpPr>
          <p:cNvPr id="28" name="TextBox 27"/>
          <p:cNvSpPr txBox="1"/>
          <p:nvPr/>
        </p:nvSpPr>
        <p:spPr>
          <a:xfrm>
            <a:off x="822960" y="402335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The engine is 46 kB of dependency-free JavaScript. Transcription works offline; nothing is uploaded.</a:t>
            </a:r>
          </a:p>
        </p:txBody>
      </p:sp>
      <p:sp>
        <p:nvSpPr>
          <p:cNvPr id="29" name="TextBox 28"/>
          <p:cNvSpPr txBox="1"/>
          <p:nvPr/>
        </p:nvSpPr>
        <p:spPr>
          <a:xfrm>
            <a:off x="822960" y="457199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ragam is the decoder's state space</a:t>
            </a:r>
          </a:p>
        </p:txBody>
      </p:sp>
      <p:sp>
        <p:nvSpPr>
          <p:cNvPr id="30" name="TextBox 29"/>
          <p:cNvSpPr txBox="1"/>
          <p:nvPr/>
        </p:nvSpPr>
        <p:spPr>
          <a:xfrm>
            <a:off x="822960" y="484631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Viterbi over that ragam's svarasthanas, penalising switches — so the decode cannot invent a note outside the ragam.</a:t>
            </a:r>
          </a:p>
        </p:txBody>
      </p:sp>
      <p:sp>
        <p:nvSpPr>
          <p:cNvPr id="31" name="TextBox 30"/>
          <p:cNvSpPr txBox="1"/>
          <p:nvPr/>
        </p:nvSpPr>
        <p:spPr>
          <a:xfrm>
            <a:off x="6309360" y="374903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Postgres + REST for the library</a:t>
            </a:r>
          </a:p>
        </p:txBody>
      </p:sp>
      <p:sp>
        <p:nvSpPr>
          <p:cNvPr id="32" name="TextBox 31"/>
          <p:cNvSpPr txBox="1"/>
          <p:nvPr/>
        </p:nvSpPr>
        <p:spPr>
          <a:xfrm>
            <a:off x="6309360" y="402335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Supabase; the page talks to it directly. Notation stored as JSON with the tala and akshara grid.</a:t>
            </a:r>
          </a:p>
        </p:txBody>
      </p:sp>
      <p:sp>
        <p:nvSpPr>
          <p:cNvPr id="33" name="TextBox 32"/>
          <p:cNvSpPr txBox="1"/>
          <p:nvPr/>
        </p:nvSpPr>
        <p:spPr>
          <a:xfrm>
            <a:off x="6309360" y="457199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harness scores the shipping code</a:t>
            </a:r>
          </a:p>
        </p:txBody>
      </p:sp>
      <p:sp>
        <p:nvSpPr>
          <p:cNvPr id="34" name="TextBox 33"/>
          <p:cNvSpPr txBox="1"/>
          <p:nvPr/>
        </p:nvSpPr>
        <p:spPr>
          <a:xfrm>
            <a:off x="6309360" y="484631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tools/eval.js extracts the engine from the page itself and scores it against public datasets — the two cannot drift.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MEASURED, NOT CLAIMED</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Accuracy on studio recordings</a:t>
            </a:r>
          </a:p>
        </p:txBody>
      </p:sp>
      <p:sp>
        <p:nvSpPr>
          <p:cNvPr id="4" name="Rounded Rectangle 3"/>
          <p:cNvSpPr/>
          <p:nvPr/>
        </p:nvSpPr>
        <p:spPr>
          <a:xfrm>
            <a:off x="822960" y="178308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02536"/>
            <a:ext cx="2468880" cy="566928"/>
          </a:xfrm>
          <a:prstGeom prst="rect">
            <a:avLst/>
          </a:prstGeom>
          <a:noFill/>
        </p:spPr>
        <p:txBody>
          <a:bodyPr wrap="square" anchor="t" lIns="0" rIns="0" tIns="0" bIns="0">
            <a:spAutoFit/>
          </a:bodyPr>
          <a:lstStyle/>
          <a:p>
            <a:pPr algn="ctr">
              <a:lnSpc>
                <a:spcPct val="100000"/>
              </a:lnSpc>
            </a:pPr>
            <a:r>
              <a:rPr sz="3400" b="1">
                <a:solidFill>
                  <a:srgbClr val="B3401F"/>
                </a:solidFill>
                <a:latin typeface="Georgia"/>
              </a:rPr>
              <a:t>91.7%</a:t>
            </a:r>
          </a:p>
        </p:txBody>
      </p:sp>
      <p:sp>
        <p:nvSpPr>
          <p:cNvPr id="6" name="TextBox 5"/>
          <p:cNvSpPr txBox="1"/>
          <p:nvPr/>
        </p:nvSpPr>
        <p:spPr>
          <a:xfrm>
            <a:off x="822960" y="262432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svara accuracy
(label + octave)</a:t>
            </a:r>
          </a:p>
        </p:txBody>
      </p:sp>
      <p:sp>
        <p:nvSpPr>
          <p:cNvPr id="7" name="Rounded Rectangle 6"/>
          <p:cNvSpPr/>
          <p:nvPr/>
        </p:nvSpPr>
        <p:spPr>
          <a:xfrm>
            <a:off x="3520440" y="178308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2002536"/>
            <a:ext cx="246888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82.5%</a:t>
            </a:r>
          </a:p>
        </p:txBody>
      </p:sp>
      <p:sp>
        <p:nvSpPr>
          <p:cNvPr id="9" name="TextBox 8"/>
          <p:cNvSpPr txBox="1"/>
          <p:nvPr/>
        </p:nvSpPr>
        <p:spPr>
          <a:xfrm>
            <a:off x="3520440" y="262432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raw pitch accuracy</a:t>
            </a:r>
          </a:p>
        </p:txBody>
      </p:sp>
      <p:sp>
        <p:nvSpPr>
          <p:cNvPr id="10" name="Rounded Rectangle 9"/>
          <p:cNvSpPr/>
          <p:nvPr/>
        </p:nvSpPr>
        <p:spPr>
          <a:xfrm>
            <a:off x="6217920" y="178308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2002536"/>
            <a:ext cx="246888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2.5%</a:t>
            </a:r>
          </a:p>
        </p:txBody>
      </p:sp>
      <p:sp>
        <p:nvSpPr>
          <p:cNvPr id="12" name="TextBox 11"/>
          <p:cNvSpPr txBox="1"/>
          <p:nvPr/>
        </p:nvSpPr>
        <p:spPr>
          <a:xfrm>
            <a:off x="6217920" y="262432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octave error rate</a:t>
            </a:r>
          </a:p>
        </p:txBody>
      </p:sp>
      <p:sp>
        <p:nvSpPr>
          <p:cNvPr id="13" name="Rounded Rectangle 12"/>
          <p:cNvSpPr/>
          <p:nvPr/>
        </p:nvSpPr>
        <p:spPr>
          <a:xfrm>
            <a:off x="8915400" y="1783080"/>
            <a:ext cx="242316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002536"/>
            <a:ext cx="242316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3.2¢</a:t>
            </a:r>
          </a:p>
        </p:txBody>
      </p:sp>
      <p:sp>
        <p:nvSpPr>
          <p:cNvPr id="15" name="TextBox 14"/>
          <p:cNvSpPr txBox="1"/>
          <p:nvPr/>
        </p:nvSpPr>
        <p:spPr>
          <a:xfrm>
            <a:off x="8915400" y="2624328"/>
            <a:ext cx="242316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tonic (sruthi) error</a:t>
            </a:r>
          </a:p>
        </p:txBody>
      </p:sp>
      <p:sp>
        <p:nvSpPr>
          <p:cNvPr id="16" name="TextBox 15"/>
          <p:cNvSpPr txBox="1"/>
          <p:nvPr/>
        </p:nvSpPr>
        <p:spPr>
          <a:xfrm>
            <a:off x="822960" y="3429000"/>
            <a:ext cx="10515600" cy="457200"/>
          </a:xfrm>
          <a:prstGeom prst="rect">
            <a:avLst/>
          </a:prstGeom>
          <a:noFill/>
        </p:spPr>
        <p:txBody>
          <a:bodyPr wrap="square" anchor="t" lIns="0" rIns="0" tIns="0" bIns="0">
            <a:spAutoFit/>
          </a:bodyPr>
          <a:lstStyle/>
          <a:p>
            <a:pPr algn="l">
              <a:lnSpc>
                <a:spcPct val="100000"/>
              </a:lnSpc>
            </a:pPr>
            <a:r>
              <a:rPr sz="1300" b="0">
                <a:solidFill>
                  <a:srgbClr val="756D5E"/>
                </a:solidFill>
                <a:latin typeface="Helvetica Neue"/>
              </a:rPr>
              <a:t>Scored on 33 items of Sanidha (Georgia Tech, CC BY 4.0), studio multitrack, against the dataset's own pitch annotations. It declines 27% of sung frames rather than guess them.</a:t>
            </a:r>
          </a:p>
        </p:txBody>
      </p:sp>
      <p:sp>
        <p:nvSpPr>
          <p:cNvPr id="17" name="Rounded Rectangle 16"/>
          <p:cNvSpPr/>
          <p:nvPr/>
        </p:nvSpPr>
        <p:spPr>
          <a:xfrm>
            <a:off x="822960" y="3977639"/>
            <a:ext cx="10515600" cy="164592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4206240"/>
            <a:ext cx="9875520" cy="1554480"/>
          </a:xfrm>
          <a:prstGeom prst="rect">
            <a:avLst/>
          </a:prstGeom>
          <a:noFill/>
        </p:spPr>
        <p:txBody>
          <a:bodyPr wrap="square" anchor="t" lIns="0" rIns="0" tIns="0" bIns="0">
            <a:spAutoFit/>
          </a:bodyPr>
          <a:lstStyle/>
          <a:p>
            <a:pPr algn="l">
              <a:lnSpc>
                <a:spcPct val="130000"/>
              </a:lnSpc>
            </a:pPr>
            <a:r>
              <a:rPr sz="1500" b="1">
                <a:solidFill>
                  <a:srgbClr val="1C1915"/>
                </a:solidFill>
                <a:latin typeface="Helvetica Neue"/>
              </a:rPr>
              <a:t>How the measurement is kept honest</a:t>
            </a:r>
          </a:p>
          <a:p>
            <a:pPr algn="l">
              <a:lnSpc>
                <a:spcPct val="130000"/>
              </a:lnSpc>
            </a:pPr>
            <a:r>
              <a:rPr sz="1250" b="0">
                <a:solidFill>
                  <a:srgbClr val="453F36"/>
                </a:solidFill>
                <a:latin typeface="Helvetica Neue"/>
              </a:rPr>
              <a:t>The harness runs the engine that ships, not a copy. Every change must improve two datasets (Sanidha and Saraga), both halves of a holdout split, and survive a deliberately mis-set tonic before it lands — what helps one corpus and hurts the other is rejected. Annotation faults are handled in the open: three records whose contour tracks another instrument are excluded, and frames the dataset itself doubled an octave are repaired by rules that read only the reference, never the engine's output. The web page publishes these same figures, and a test fails if they drift from the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THE LIBRARY</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Rescuing a 1904 book by machine</a:t>
            </a:r>
          </a:p>
        </p:txBody>
      </p:sp>
      <p:sp>
        <p:nvSpPr>
          <p:cNvPr id="4" name="TextBox 3"/>
          <p:cNvSpPr txBox="1"/>
          <p:nvPr/>
        </p:nvSpPr>
        <p:spPr>
          <a:xfrm>
            <a:off x="822960" y="1737360"/>
            <a:ext cx="10424160" cy="914400"/>
          </a:xfrm>
          <a:prstGeom prst="rect">
            <a:avLst/>
          </a:prstGeom>
          <a:noFill/>
        </p:spPr>
        <p:txBody>
          <a:bodyPr wrap="square" anchor="t" lIns="0" rIns="0" tIns="0" bIns="0">
            <a:spAutoFit/>
          </a:bodyPr>
          <a:lstStyle/>
          <a:p>
            <a:pPr algn="l">
              <a:lnSpc>
                <a:spcPct val="130000"/>
              </a:lnSpc>
            </a:pPr>
            <a:r>
              <a:rPr sz="1500" b="0">
                <a:solidFill>
                  <a:srgbClr val="453F36"/>
                </a:solidFill>
                <a:latin typeface="Helvetica Neue"/>
              </a:rPr>
              <a:t>Subbarama Dikshitar's Sangita Sampradaya Pradarsini (1904) is the only public-domain source of complete Carnatic notation — and it has never been machine-readable.</a:t>
            </a:r>
          </a:p>
        </p:txBody>
      </p:sp>
      <p:sp>
        <p:nvSpPr>
          <p:cNvPr id="5" name="Rounded Rectangle 4"/>
          <p:cNvSpPr/>
          <p:nvPr/>
        </p:nvSpPr>
        <p:spPr>
          <a:xfrm>
            <a:off x="822960" y="274320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62656"/>
            <a:ext cx="246888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598</a:t>
            </a:r>
          </a:p>
        </p:txBody>
      </p:sp>
      <p:sp>
        <p:nvSpPr>
          <p:cNvPr id="7" name="TextBox 6"/>
          <p:cNvSpPr txBox="1"/>
          <p:nvPr/>
        </p:nvSpPr>
        <p:spPr>
          <a:xfrm>
            <a:off x="822960" y="358444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compositions</a:t>
            </a:r>
          </a:p>
        </p:txBody>
      </p:sp>
      <p:sp>
        <p:nvSpPr>
          <p:cNvPr id="8" name="Rounded Rectangle 7"/>
          <p:cNvSpPr/>
          <p:nvPr/>
        </p:nvSpPr>
        <p:spPr>
          <a:xfrm>
            <a:off x="3520440" y="274320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0440" y="2962656"/>
            <a:ext cx="2468880" cy="566928"/>
          </a:xfrm>
          <a:prstGeom prst="rect">
            <a:avLst/>
          </a:prstGeom>
          <a:noFill/>
        </p:spPr>
        <p:txBody>
          <a:bodyPr wrap="square" anchor="t" lIns="0" rIns="0" tIns="0" bIns="0">
            <a:spAutoFit/>
          </a:bodyPr>
          <a:lstStyle/>
          <a:p>
            <a:pPr algn="ctr">
              <a:lnSpc>
                <a:spcPct val="100000"/>
              </a:lnSpc>
            </a:pPr>
            <a:r>
              <a:rPr sz="3400" b="1">
                <a:solidFill>
                  <a:srgbClr val="B3401F"/>
                </a:solidFill>
                <a:latin typeface="Georgia"/>
              </a:rPr>
              <a:t>42</a:t>
            </a:r>
          </a:p>
        </p:txBody>
      </p:sp>
      <p:sp>
        <p:nvSpPr>
          <p:cNvPr id="10" name="TextBox 9"/>
          <p:cNvSpPr txBox="1"/>
          <p:nvPr/>
        </p:nvSpPr>
        <p:spPr>
          <a:xfrm>
            <a:off x="3520440" y="358444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with complete notation</a:t>
            </a:r>
          </a:p>
        </p:txBody>
      </p:sp>
      <p:sp>
        <p:nvSpPr>
          <p:cNvPr id="11" name="Rounded Rectangle 10"/>
          <p:cNvSpPr/>
          <p:nvPr/>
        </p:nvSpPr>
        <p:spPr>
          <a:xfrm>
            <a:off x="6217920" y="2743200"/>
            <a:ext cx="246888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2962656"/>
            <a:ext cx="2468880" cy="566928"/>
          </a:xfrm>
          <a:prstGeom prst="rect">
            <a:avLst/>
          </a:prstGeom>
          <a:noFill/>
        </p:spPr>
        <p:txBody>
          <a:bodyPr wrap="square" anchor="t" lIns="0" rIns="0" tIns="0" bIns="0">
            <a:spAutoFit/>
          </a:bodyPr>
          <a:lstStyle/>
          <a:p>
            <a:pPr algn="ctr">
              <a:lnSpc>
                <a:spcPct val="100000"/>
              </a:lnSpc>
            </a:pPr>
            <a:r>
              <a:rPr sz="3400" b="1">
                <a:solidFill>
                  <a:srgbClr val="0E6B5C"/>
                </a:solidFill>
                <a:latin typeface="Georgia"/>
              </a:rPr>
              <a:t>939</a:t>
            </a:r>
          </a:p>
        </p:txBody>
      </p:sp>
      <p:sp>
        <p:nvSpPr>
          <p:cNvPr id="13" name="TextBox 12"/>
          <p:cNvSpPr txBox="1"/>
          <p:nvPr/>
        </p:nvSpPr>
        <p:spPr>
          <a:xfrm>
            <a:off x="6217920" y="3584448"/>
            <a:ext cx="246888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ragams</a:t>
            </a:r>
          </a:p>
        </p:txBody>
      </p:sp>
      <p:sp>
        <p:nvSpPr>
          <p:cNvPr id="14" name="Rounded Rectangle 13"/>
          <p:cNvSpPr/>
          <p:nvPr/>
        </p:nvSpPr>
        <p:spPr>
          <a:xfrm>
            <a:off x="8915400" y="2743200"/>
            <a:ext cx="2423160" cy="137160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5400" y="2962656"/>
            <a:ext cx="2423160" cy="566928"/>
          </a:xfrm>
          <a:prstGeom prst="rect">
            <a:avLst/>
          </a:prstGeom>
          <a:noFill/>
        </p:spPr>
        <p:txBody>
          <a:bodyPr wrap="square" anchor="t" lIns="0" rIns="0" tIns="0" bIns="0">
            <a:spAutoFit/>
          </a:bodyPr>
          <a:lstStyle/>
          <a:p>
            <a:pPr algn="ctr">
              <a:lnSpc>
                <a:spcPct val="100000"/>
              </a:lnSpc>
            </a:pPr>
            <a:r>
              <a:rPr sz="3400" b="1">
                <a:solidFill>
                  <a:srgbClr val="B3401F"/>
                </a:solidFill>
                <a:latin typeface="Georgia"/>
              </a:rPr>
              <a:t>4,695</a:t>
            </a:r>
          </a:p>
        </p:txBody>
      </p:sp>
      <p:sp>
        <p:nvSpPr>
          <p:cNvPr id="16" name="TextBox 15"/>
          <p:cNvSpPr txBox="1"/>
          <p:nvPr/>
        </p:nvSpPr>
        <p:spPr>
          <a:xfrm>
            <a:off x="8915400" y="3584448"/>
            <a:ext cx="2423160" cy="457200"/>
          </a:xfrm>
          <a:prstGeom prst="rect">
            <a:avLst/>
          </a:prstGeom>
          <a:noFill/>
        </p:spPr>
        <p:txBody>
          <a:bodyPr wrap="square" anchor="t" lIns="0" rIns="0" tIns="0" bIns="0">
            <a:spAutoFit/>
          </a:bodyPr>
          <a:lstStyle/>
          <a:p>
            <a:pPr algn="ctr">
              <a:lnSpc>
                <a:spcPct val="100000"/>
              </a:lnSpc>
            </a:pPr>
            <a:r>
              <a:rPr sz="1100" b="0">
                <a:solidFill>
                  <a:srgbClr val="756D5E"/>
                </a:solidFill>
                <a:latin typeface="Helvetica Neue"/>
              </a:rPr>
              <a:t>svaras extracted from SSP</a:t>
            </a:r>
          </a:p>
        </p:txBody>
      </p:sp>
      <p:sp>
        <p:nvSpPr>
          <p:cNvPr id="17" name="TextBox 16"/>
          <p:cNvSpPr txBox="1"/>
          <p:nvPr/>
        </p:nvSpPr>
        <p:spPr>
          <a:xfrm>
            <a:off x="822960" y="4434840"/>
            <a:ext cx="10424160" cy="1463040"/>
          </a:xfrm>
          <a:prstGeom prst="rect">
            <a:avLst/>
          </a:prstGeom>
          <a:noFill/>
        </p:spPr>
        <p:txBody>
          <a:bodyPr wrap="square" anchor="t" lIns="0" rIns="0" tIns="0" bIns="0">
            <a:spAutoFit/>
          </a:bodyPr>
          <a:lstStyle/>
          <a:p>
            <a:pPr algn="l">
              <a:lnSpc>
                <a:spcPct val="135000"/>
              </a:lnSpc>
            </a:pPr>
            <a:r>
              <a:rPr sz="1350" b="0">
                <a:solidFill>
                  <a:srgbClr val="453F36"/>
                </a:solidFill>
                <a:latin typeface="Helvetica Neue"/>
              </a:rPr>
              <a:t>The extractor reads the book's own notation scheme from its page iii — capitals are two aksharas, underlines halve, dots mark sthayi — and verifies every section against the tala the book prints for it. 26 kirtanas parse clean end to end; 12 of them were confirmed independently against a separate catalogue, agreeing on both title and ragam. Nothing that fails verification is loaded.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LIMITATIONS</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What it cannot do yet</a:t>
            </a:r>
          </a:p>
        </p:txBody>
      </p:sp>
      <p:sp>
        <p:nvSpPr>
          <p:cNvPr id="4" name="TextBox 3"/>
          <p:cNvSpPr txBox="1"/>
          <p:nvPr/>
        </p:nvSpPr>
        <p:spPr>
          <a:xfrm>
            <a:off x="822960" y="187451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Ragam identification is weak — 15% top-1</a:t>
            </a:r>
          </a:p>
        </p:txBody>
      </p:sp>
      <p:sp>
        <p:nvSpPr>
          <p:cNvPr id="5" name="TextBox 4"/>
          <p:cNvSpPr txBox="1"/>
          <p:nvPr/>
        </p:nvSpPr>
        <p:spPr>
          <a:xfrm>
            <a:off x="822960" y="214883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A pitch histogram cannot separate ragams that share a svara set and differ by phrase. The user still has to name the ragam.</a:t>
            </a:r>
          </a:p>
        </p:txBody>
      </p:sp>
      <p:sp>
        <p:nvSpPr>
          <p:cNvPr id="6" name="TextBox 5"/>
          <p:cNvSpPr txBox="1"/>
          <p:nvPr/>
        </p:nvSpPr>
        <p:spPr>
          <a:xfrm>
            <a:off x="822960" y="2843783"/>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Gamaka classification is coarse</a:t>
            </a:r>
          </a:p>
        </p:txBody>
      </p:sp>
      <p:sp>
        <p:nvSpPr>
          <p:cNvPr id="7" name="TextBox 6"/>
          <p:cNvSpPr txBox="1"/>
          <p:nvPr/>
        </p:nvSpPr>
        <p:spPr>
          <a:xfrm>
            <a:off x="822960" y="3118103"/>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Five machine labels, not the dasavidha taxonomy. It says 'kampita', not which kampita.</a:t>
            </a:r>
          </a:p>
        </p:txBody>
      </p:sp>
      <p:sp>
        <p:nvSpPr>
          <p:cNvPr id="8" name="TextBox 7"/>
          <p:cNvSpPr txBox="1"/>
          <p:nvPr/>
        </p:nvSpPr>
        <p:spPr>
          <a:xfrm>
            <a:off x="822960" y="3813047"/>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It abstains, and it false-alarms</a:t>
            </a:r>
          </a:p>
        </p:txBody>
      </p:sp>
      <p:sp>
        <p:nvSpPr>
          <p:cNvPr id="9" name="TextBox 8"/>
          <p:cNvSpPr txBox="1"/>
          <p:nvPr/>
        </p:nvSpPr>
        <p:spPr>
          <a:xfrm>
            <a:off x="822960" y="4087367"/>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27% of sung frames get no svara — declined, not guessed — and 32% of silences still get called a note.</a:t>
            </a:r>
          </a:p>
        </p:txBody>
      </p:sp>
      <p:sp>
        <p:nvSpPr>
          <p:cNvPr id="10" name="TextBox 9"/>
          <p:cNvSpPr txBox="1"/>
          <p:nvPr/>
        </p:nvSpPr>
        <p:spPr>
          <a:xfrm>
            <a:off x="822960" y="4782311"/>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One voice, no ensemble</a:t>
            </a:r>
          </a:p>
        </p:txBody>
      </p:sp>
      <p:sp>
        <p:nvSpPr>
          <p:cNvPr id="11" name="TextBox 10"/>
          <p:cNvSpPr txBox="1"/>
          <p:nvPr/>
        </p:nvSpPr>
        <p:spPr>
          <a:xfrm>
            <a:off x="822960" y="5056631"/>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Trained on and scored against solo vocal. Accompaniment in the room degrades it.</a:t>
            </a:r>
          </a:p>
        </p:txBody>
      </p:sp>
      <p:sp>
        <p:nvSpPr>
          <p:cNvPr id="12" name="TextBox 11"/>
          <p:cNvSpPr txBox="1"/>
          <p:nvPr/>
        </p:nvSpPr>
        <p:spPr>
          <a:xfrm>
            <a:off x="6309360" y="1874519"/>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library is mostly metadata</a:t>
            </a:r>
          </a:p>
        </p:txBody>
      </p:sp>
      <p:sp>
        <p:nvSpPr>
          <p:cNvPr id="13" name="TextBox 12"/>
          <p:cNvSpPr txBox="1"/>
          <p:nvPr/>
        </p:nvSpPr>
        <p:spPr>
          <a:xfrm>
            <a:off x="6309360" y="2148839"/>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433 of 598 rows have no notation. Complete notation is not openly licensed at scale; that is a licensing wall, not an engineering one.</a:t>
            </a:r>
          </a:p>
        </p:txBody>
      </p:sp>
      <p:sp>
        <p:nvSpPr>
          <p:cNvPr id="14" name="TextBox 13"/>
          <p:cNvSpPr txBox="1"/>
          <p:nvPr/>
        </p:nvSpPr>
        <p:spPr>
          <a:xfrm>
            <a:off x="6309360" y="2843783"/>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The SSP extractor verifies 44% of sections</a:t>
            </a:r>
          </a:p>
        </p:txBody>
      </p:sp>
      <p:sp>
        <p:nvSpPr>
          <p:cNvPr id="15" name="TextBox 14"/>
          <p:cNvSpPr txBox="1"/>
          <p:nvPr/>
        </p:nvSpPr>
        <p:spPr>
          <a:xfrm>
            <a:off x="6309360" y="3118103"/>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Errors are per-glyph now — underline geometry, tight spacing. Each further point is slow work.</a:t>
            </a:r>
          </a:p>
        </p:txBody>
      </p:sp>
      <p:sp>
        <p:nvSpPr>
          <p:cNvPr id="16" name="TextBox 15"/>
          <p:cNvSpPr txBox="1"/>
          <p:nvPr/>
        </p:nvSpPr>
        <p:spPr>
          <a:xfrm>
            <a:off x="6309360" y="3813047"/>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No Tyagaraja notation</a:t>
            </a:r>
          </a:p>
        </p:txBody>
      </p:sp>
      <p:sp>
        <p:nvSpPr>
          <p:cNvPr id="17" name="TextBox 16"/>
          <p:cNvSpPr txBox="1"/>
          <p:nvPr/>
        </p:nvSpPr>
        <p:spPr>
          <a:xfrm>
            <a:off x="6309360" y="4087367"/>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SSP covers Dikshitar. The Walajapet manuscripts are scans with no text layer.</a:t>
            </a:r>
          </a:p>
        </p:txBody>
      </p:sp>
      <p:sp>
        <p:nvSpPr>
          <p:cNvPr id="18" name="TextBox 17"/>
          <p:cNvSpPr txBox="1"/>
          <p:nvPr/>
        </p:nvSpPr>
        <p:spPr>
          <a:xfrm>
            <a:off x="6309360" y="4782311"/>
            <a:ext cx="5029200" cy="365760"/>
          </a:xfrm>
          <a:prstGeom prst="rect">
            <a:avLst/>
          </a:prstGeom>
          <a:noFill/>
        </p:spPr>
        <p:txBody>
          <a:bodyPr wrap="square" anchor="t" lIns="0" rIns="0" tIns="0" bIns="0">
            <a:spAutoFit/>
          </a:bodyPr>
          <a:lstStyle/>
          <a:p>
            <a:pPr algn="l">
              <a:lnSpc>
                <a:spcPct val="100000"/>
              </a:lnSpc>
            </a:pPr>
            <a:r>
              <a:rPr sz="1550" b="1">
                <a:solidFill>
                  <a:srgbClr val="1C1915"/>
                </a:solidFill>
                <a:latin typeface="Helvetica Neue"/>
              </a:rPr>
              <a:t>Not a substitute for a teacher</a:t>
            </a:r>
          </a:p>
        </p:txBody>
      </p:sp>
      <p:sp>
        <p:nvSpPr>
          <p:cNvPr id="19" name="TextBox 18"/>
          <p:cNvSpPr txBox="1"/>
          <p:nvPr/>
        </p:nvSpPr>
        <p:spPr>
          <a:xfrm>
            <a:off x="6309360" y="5056631"/>
            <a:ext cx="5029200" cy="731520"/>
          </a:xfrm>
          <a:prstGeom prst="rect">
            <a:avLst/>
          </a:prstGeom>
          <a:noFill/>
        </p:spPr>
        <p:txBody>
          <a:bodyPr wrap="square" anchor="t" lIns="0" rIns="0" tIns="0" bIns="0">
            <a:spAutoFit/>
          </a:bodyPr>
          <a:lstStyle/>
          <a:p>
            <a:pPr algn="l">
              <a:lnSpc>
                <a:spcPct val="125000"/>
              </a:lnSpc>
            </a:pPr>
            <a:r>
              <a:rPr sz="1300" b="0">
                <a:solidFill>
                  <a:srgbClr val="756D5E"/>
                </a:solidFill>
                <a:latin typeface="Helvetica Neue"/>
              </a:rPr>
              <a:t>It measures pitch. It does not hear bhava, and it should not be sold as if it did.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pPr>
            <a:r>
              <a:rPr sz="1150" b="1">
                <a:solidFill>
                  <a:srgbClr val="B3401F"/>
                </a:solidFill>
                <a:latin typeface="Menlo"/>
              </a:rPr>
              <a:t>LANDSCAPE</a:t>
            </a:r>
          </a:p>
        </p:txBody>
      </p:sp>
      <p:sp>
        <p:nvSpPr>
          <p:cNvPr id="3" name="TextBox 2"/>
          <p:cNvSpPr txBox="1"/>
          <p:nvPr/>
        </p:nvSpPr>
        <p:spPr>
          <a:xfrm>
            <a:off x="822960" y="868680"/>
            <a:ext cx="10515600" cy="640080"/>
          </a:xfrm>
          <a:prstGeom prst="rect">
            <a:avLst/>
          </a:prstGeom>
          <a:noFill/>
        </p:spPr>
        <p:txBody>
          <a:bodyPr wrap="square" anchor="t" lIns="0" rIns="0" tIns="0" bIns="0">
            <a:spAutoFit/>
          </a:bodyPr>
          <a:lstStyle/>
          <a:p>
            <a:pPr algn="l">
              <a:lnSpc>
                <a:spcPct val="100000"/>
              </a:lnSpc>
            </a:pPr>
            <a:r>
              <a:rPr sz="3000" b="1">
                <a:solidFill>
                  <a:srgbClr val="1C1915"/>
                </a:solidFill>
                <a:latin typeface="Georgia"/>
              </a:rPr>
              <a:t>What is genuinely new here</a:t>
            </a:r>
          </a:p>
        </p:txBody>
      </p:sp>
      <p:sp>
        <p:nvSpPr>
          <p:cNvPr id="4" name="Rounded Rectangle 3"/>
          <p:cNvSpPr/>
          <p:nvPr/>
        </p:nvSpPr>
        <p:spPr>
          <a:xfrm>
            <a:off x="822960" y="1691640"/>
            <a:ext cx="5120640" cy="379476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65960"/>
            <a:ext cx="4480560" cy="3429000"/>
          </a:xfrm>
          <a:prstGeom prst="rect">
            <a:avLst/>
          </a:prstGeom>
          <a:noFill/>
        </p:spPr>
        <p:txBody>
          <a:bodyPr wrap="square" anchor="t" lIns="0" rIns="0" tIns="0" bIns="0">
            <a:spAutoFit/>
          </a:bodyPr>
          <a:lstStyle/>
          <a:p>
            <a:pPr algn="l">
              <a:lnSpc>
                <a:spcPct val="125000"/>
              </a:lnSpc>
            </a:pPr>
            <a:r>
              <a:rPr sz="1600" b="1">
                <a:solidFill>
                  <a:srgbClr val="756D5E"/>
                </a:solidFill>
                <a:latin typeface="Georgia"/>
              </a:rPr>
              <a:t>Already exists</a:t>
            </a:r>
          </a:p>
          <a:p>
            <a:pPr algn="l">
              <a:lnSpc>
                <a:spcPct val="125000"/>
              </a:lnSpc>
            </a:pPr>
            <a:r>
              <a:rPr sz="900" b="0">
                <a:solidFill>
                  <a:srgbClr val="756D5E"/>
                </a:solidFill>
                <a:latin typeface="Helvetica Neue"/>
              </a:rPr>
              <a:t/>
            </a:r>
          </a:p>
          <a:p>
            <a:pPr algn="l">
              <a:lnSpc>
                <a:spcPct val="125000"/>
              </a:lnSpc>
            </a:pPr>
            <a:r>
              <a:rPr sz="1250" b="0">
                <a:solidFill>
                  <a:srgbClr val="453F36"/>
                </a:solidFill>
                <a:latin typeface="Helvetica Neue"/>
              </a:rPr>
              <a:t>·  Tuners that name the svara you are holding — Carnatic Tuner, Shruti.</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Practice apps with pitch feedback and lesson tracks — Riyaz, Carnatic Singer. Sadhana is our answer to these, and they got there first.</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AI accompaniment and raga detection — NaadSadhana, an Apple Design Award winner with 410 ragas.</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Notation typing tools — Haathi Carnatic Editor.</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Research corpora — CompMusic, Saraga, Sanidha.</a:t>
            </a:r>
          </a:p>
        </p:txBody>
      </p:sp>
      <p:sp>
        <p:nvSpPr>
          <p:cNvPr id="6" name="Rounded Rectangle 5"/>
          <p:cNvSpPr/>
          <p:nvPr/>
        </p:nvSpPr>
        <p:spPr>
          <a:xfrm>
            <a:off x="6309360" y="1691640"/>
            <a:ext cx="5029200" cy="3794760"/>
          </a:xfrm>
          <a:prstGeom prst="roundRect">
            <a:avLst>
              <a:gd name="adj" fmla="val 6000"/>
            </a:avLst>
          </a:prstGeom>
          <a:solidFill>
            <a:srgbClr val="FFFFFF"/>
          </a:solidFill>
          <a:ln w="12700">
            <a:solidFill>
              <a:srgbClr val="E4DC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29400" y="1965960"/>
            <a:ext cx="4389120" cy="3429000"/>
          </a:xfrm>
          <a:prstGeom prst="rect">
            <a:avLst/>
          </a:prstGeom>
          <a:noFill/>
        </p:spPr>
        <p:txBody>
          <a:bodyPr wrap="square" anchor="t" lIns="0" rIns="0" tIns="0" bIns="0">
            <a:spAutoFit/>
          </a:bodyPr>
          <a:lstStyle/>
          <a:p>
            <a:pPr algn="l">
              <a:lnSpc>
                <a:spcPct val="125000"/>
              </a:lnSpc>
            </a:pPr>
            <a:r>
              <a:rPr sz="1600" b="1">
                <a:solidFill>
                  <a:srgbClr val="B3401F"/>
                </a:solidFill>
                <a:latin typeface="Georgia"/>
              </a:rPr>
              <a:t>Less crowded</a:t>
            </a:r>
          </a:p>
          <a:p>
            <a:pPr algn="l">
              <a:lnSpc>
                <a:spcPct val="125000"/>
              </a:lnSpc>
            </a:pPr>
            <a:r>
              <a:rPr sz="900" b="0">
                <a:solidFill>
                  <a:srgbClr val="756D5E"/>
                </a:solidFill>
                <a:latin typeface="Helvetica Neue"/>
              </a:rPr>
              <a:t/>
            </a:r>
          </a:p>
          <a:p>
            <a:pPr algn="l">
              <a:lnSpc>
                <a:spcPct val="125000"/>
              </a:lnSpc>
            </a:pPr>
            <a:r>
              <a:rPr sz="1250" b="0">
                <a:solidFill>
                  <a:srgbClr val="453F36"/>
                </a:solidFill>
                <a:latin typeface="Helvetica Neue"/>
              </a:rPr>
              <a:t>·  Continuous transcription of a phrase into tala-aligned notation, not just the current note.</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Runs entirely in the browser — no install, no account, works offline.</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Published accuracy against public datasets, with the harness in the repo.</a:t>
            </a:r>
          </a:p>
          <a:p>
            <a:pPr algn="l">
              <a:lnSpc>
                <a:spcPct val="125000"/>
              </a:lnSpc>
            </a:pPr>
            <a:r>
              <a:rPr sz="600" b="0">
                <a:solidFill>
                  <a:srgbClr val="756D5E"/>
                </a:solidFill>
                <a:latin typeface="Helvetica Neue"/>
              </a:rPr>
              <a:t/>
            </a:r>
          </a:p>
          <a:p>
            <a:pPr algn="l">
              <a:lnSpc>
                <a:spcPct val="125000"/>
              </a:lnSpc>
            </a:pPr>
            <a:r>
              <a:rPr sz="1250" b="0">
                <a:solidFill>
                  <a:srgbClr val="453F36"/>
                </a:solidFill>
                <a:latin typeface="Helvetica Neue"/>
              </a:rPr>
              <a:t>·  Practice scored against an open library rather than a proprietary lesson set — including a 1904 book nobody else can drill you on.</a:t>
            </a:r>
          </a:p>
          <a:p>
            <a:pPr algn="l">
              <a:lnSpc>
                <a:spcPct val="125000"/>
              </a:lnSpc>
            </a:pPr>
            <a:r>
              <a:rPr sz="600" b="0">
                <a:solidFill>
                  <a:srgbClr val="756D5E"/>
                </a:solidFill>
                <a:latin typeface="Helvetica Neue"/>
              </a:rPr>
              <a:t/>
            </a:r>
          </a:p>
          <a:p>
            <a:pPr algn="l">
              <a:lnSpc>
                <a:spcPct val="125000"/>
              </a:lnSpc>
            </a:pPr>
            <a:r>
              <a:rPr sz="1250" b="1">
                <a:solidFill>
                  <a:srgbClr val="B3401F"/>
                </a:solidFill>
                <a:latin typeface="Helvetica Neue"/>
              </a:rPr>
              <a:t>·  A machine-readable SSP corpus with provenance — as far as we know, the first.</a:t>
            </a:r>
          </a:p>
        </p:txBody>
      </p:sp>
      <p:sp>
        <p:nvSpPr>
          <p:cNvPr id="8" name="TextBox 7"/>
          <p:cNvSpPr txBox="1"/>
          <p:nvPr/>
        </p:nvSpPr>
        <p:spPr>
          <a:xfrm>
            <a:off x="822960" y="5650992"/>
            <a:ext cx="10515600" cy="822960"/>
          </a:xfrm>
          <a:prstGeom prst="rect">
            <a:avLst/>
          </a:prstGeom>
          <a:noFill/>
        </p:spPr>
        <p:txBody>
          <a:bodyPr wrap="square" anchor="t" lIns="0" rIns="0" tIns="0" bIns="0">
            <a:spAutoFit/>
          </a:bodyPr>
          <a:lstStyle/>
          <a:p>
            <a:pPr algn="l">
              <a:lnSpc>
                <a:spcPct val="125000"/>
              </a:lnSpc>
            </a:pPr>
            <a:r>
              <a:rPr sz="1250" b="0">
                <a:solidFill>
                  <a:srgbClr val="756D5E"/>
                </a:solidFill>
                <a:latin typeface="Helvetica Neue"/>
              </a:rPr>
              <a:t>Honest reading: transcription is differentiated, not unique, and practice apps had a decade’s head start. What none of them close is the loop — sing something down, contribute it, then be drilled on it. The extracted SSP corpus is what makes that loop worth closing.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TextBox 1"/>
          <p:cNvSpPr txBox="1"/>
          <p:nvPr/>
        </p:nvSpPr>
        <p:spPr>
          <a:xfrm>
            <a:off x="1005840" y="2743200"/>
            <a:ext cx="10058400" cy="365760"/>
          </a:xfrm>
          <a:prstGeom prst="rect">
            <a:avLst/>
          </a:prstGeom>
          <a:noFill/>
        </p:spPr>
        <p:txBody>
          <a:bodyPr wrap="square" anchor="t" lIns="0" rIns="0" tIns="0" bIns="0">
            <a:spAutoFit/>
          </a:bodyPr>
          <a:lstStyle/>
          <a:p>
            <a:pPr algn="l">
              <a:lnSpc>
                <a:spcPct val="100000"/>
              </a:lnSpc>
            </a:pPr>
            <a:r>
              <a:rPr sz="1300" b="1">
                <a:solidFill>
                  <a:srgbClr val="B3401F"/>
                </a:solidFill>
                <a:latin typeface="Menlo"/>
              </a:rPr>
              <a:t>WHERE IT GOES</a:t>
            </a:r>
          </a:p>
        </p:txBody>
      </p:sp>
      <p:sp>
        <p:nvSpPr>
          <p:cNvPr id="3" name="TextBox 2"/>
          <p:cNvSpPr txBox="1"/>
          <p:nvPr/>
        </p:nvSpPr>
        <p:spPr>
          <a:xfrm>
            <a:off x="1005840" y="3200400"/>
            <a:ext cx="10058400" cy="914400"/>
          </a:xfrm>
          <a:prstGeom prst="rect">
            <a:avLst/>
          </a:prstGeom>
          <a:noFill/>
        </p:spPr>
        <p:txBody>
          <a:bodyPr wrap="square" anchor="t" lIns="0" rIns="0" tIns="0" bIns="0">
            <a:spAutoFit/>
          </a:bodyPr>
          <a:lstStyle/>
          <a:p>
            <a:pPr algn="l">
              <a:lnSpc>
                <a:spcPct val="100000"/>
              </a:lnSpc>
            </a:pPr>
            <a:r>
              <a:rPr sz="4000" b="1">
                <a:solidFill>
                  <a:srgbClr val="1C1915"/>
                </a:solidFill>
                <a:latin typeface="Georgia"/>
              </a:rPr>
              <a:t>Next</a:t>
            </a:r>
          </a:p>
        </p:txBody>
      </p:sp>
      <p:sp>
        <p:nvSpPr>
          <p:cNvPr id="4" name="TextBox 3"/>
          <p:cNvSpPr txBox="1"/>
          <p:nvPr/>
        </p:nvSpPr>
        <p:spPr>
          <a:xfrm>
            <a:off x="1005840" y="4160520"/>
            <a:ext cx="10058400" cy="1828800"/>
          </a:xfrm>
          <a:prstGeom prst="rect">
            <a:avLst/>
          </a:prstGeom>
          <a:noFill/>
        </p:spPr>
        <p:txBody>
          <a:bodyPr wrap="square" anchor="t" lIns="0" rIns="0" tIns="0" bIns="0">
            <a:spAutoFit/>
          </a:bodyPr>
          <a:lstStyle/>
          <a:p>
            <a:pPr algn="l">
              <a:lnSpc>
                <a:spcPct val="125000"/>
              </a:lnSpc>
            </a:pPr>
            <a:r>
              <a:rPr sz="1500" b="0">
                <a:solidFill>
                  <a:srgbClr val="453F36"/>
                </a:solidFill>
                <a:latin typeface="Helvetica Neue"/>
              </a:rPr>
              <a:t>·  Raise the SSP yield — every point converts directly into complete works.</a:t>
            </a:r>
          </a:p>
          <a:p>
            <a:pPr algn="l">
              <a:lnSpc>
                <a:spcPct val="125000"/>
              </a:lnSpc>
            </a:pPr>
            <a:r>
              <a:rPr sz="1500" b="0">
                <a:solidFill>
                  <a:srgbClr val="756D5E"/>
                </a:solidFill>
                <a:latin typeface="Helvetica Neue"/>
              </a:rPr>
              <a:t/>
            </a:r>
          </a:p>
          <a:p>
            <a:pPr algn="l">
              <a:lnSpc>
                <a:spcPct val="125000"/>
              </a:lnSpc>
            </a:pPr>
            <a:r>
              <a:rPr sz="1500" b="0">
                <a:solidFill>
                  <a:srgbClr val="453F36"/>
                </a:solidFill>
                <a:latin typeface="Helvetica Neue"/>
              </a:rPr>
              <a:t>·  Cut the voicing false alarm; it is the weakest measured number.</a:t>
            </a:r>
          </a:p>
          <a:p>
            <a:pPr algn="l">
              <a:lnSpc>
                <a:spcPct val="125000"/>
              </a:lnSpc>
            </a:pPr>
            <a:r>
              <a:rPr sz="1500" b="0">
                <a:solidFill>
                  <a:srgbClr val="756D5E"/>
                </a:solidFill>
                <a:latin typeface="Helvetica Neue"/>
              </a:rPr>
              <a:t/>
            </a:r>
          </a:p>
          <a:p>
            <a:pPr algn="l">
              <a:lnSpc>
                <a:spcPct val="125000"/>
              </a:lnSpc>
            </a:pPr>
            <a:r>
              <a:rPr sz="1500" b="0">
                <a:solidFill>
                  <a:srgbClr val="453F36"/>
                </a:solidFill>
                <a:latin typeface="Helvetica Neue"/>
              </a:rPr>
              <a:t>·  Phrase-level ragam identification, where the published work actually lives.</a:t>
            </a:r>
          </a:p>
          <a:p>
            <a:pPr algn="l">
              <a:lnSpc>
                <a:spcPct val="125000"/>
              </a:lnSpc>
            </a:pPr>
            <a:r>
              <a:rPr sz="1500" b="0">
                <a:solidFill>
                  <a:srgbClr val="756D5E"/>
                </a:solidFill>
                <a:latin typeface="Helvetica Neue"/>
              </a:rPr>
              <a:t/>
            </a:r>
          </a:p>
          <a:p>
            <a:pPr algn="l">
              <a:lnSpc>
                <a:spcPct val="125000"/>
              </a:lnSpc>
            </a:pPr>
            <a:r>
              <a:rPr sz="1500" b="0">
                <a:solidFill>
                  <a:srgbClr val="453F36"/>
                </a:solidFill>
                <a:latin typeface="Helvetica Neue"/>
              </a:rPr>
              <a:t>·  Attach openly-licensed audio to notated works, so a student can hear and read together.</a:t>
            </a:r>
          </a:p>
          <a:p>
            <a:pPr algn="l">
              <a:lnSpc>
                <a:spcPct val="125000"/>
              </a:lnSpc>
            </a:pPr>
            <a:r>
              <a:rPr sz="1500" b="0">
                <a:solidFill>
                  <a:srgbClr val="756D5E"/>
                </a:solidFill>
                <a:latin typeface="Helvetica Neue"/>
              </a:rPr>
              <a:t/>
            </a:r>
          </a:p>
          <a:p>
            <a:pPr algn="l">
              <a:lnSpc>
                <a:spcPct val="125000"/>
              </a:lnSpc>
            </a:pPr>
            <a:r>
              <a:rPr sz="1500" b="0">
                <a:solidFill>
                  <a:srgbClr val="453F36"/>
                </a:solidFill>
                <a:latin typeface="Helvetica Neue"/>
              </a:rPr>
              <a:t>·  Take Sadhana from pitch to timing — holding a svara for the right number of aksharas is half of singing in tala.</a:t>
            </a:r>
          </a:p>
        </p:txBody>
      </p:sp>
      <p:sp>
        <p:nvSpPr>
          <p:cNvPr id="5" name="TextBox 4"/>
          <p:cNvSpPr txBox="1"/>
          <p:nvPr/>
        </p:nvSpPr>
        <p:spPr>
          <a:xfrm>
            <a:off x="1005840" y="6382512"/>
            <a:ext cx="10058400" cy="384048"/>
          </a:xfrm>
          <a:prstGeom prst="rect">
            <a:avLst/>
          </a:prstGeom>
          <a:noFill/>
        </p:spPr>
        <p:txBody>
          <a:bodyPr wrap="square" anchor="t" lIns="0" rIns="0" tIns="0" bIns="0">
            <a:spAutoFit/>
          </a:bodyPr>
          <a:lstStyle/>
          <a:p>
            <a:pPr algn="l">
              <a:lnSpc>
                <a:spcPct val="100000"/>
              </a:lnSpc>
            </a:pPr>
            <a:r>
              <a:rPr sz="1250" b="0">
                <a:solidFill>
                  <a:srgbClr val="756D5E"/>
                </a:solidFill>
                <a:latin typeface="Menlo"/>
              </a:rPr>
              <a:t>Questions, corrections, missing compositions — Vinoth Kannan, vinoth.kannan.eu@gmail.com  ·  © 2026, all rights 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